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850" y="7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0DC"/>
        </a:solidFill>
        <a:effectLst/>
      </p:bgPr>
    </p:bg>
    <p:spTree>
      <p:nvGrpSpPr>
        <p:cNvPr id="1" name=""/>
        <p:cNvGrpSpPr/>
        <p:nvPr/>
      </p:nvGrpSpPr>
      <p:grpSpPr>
        <a:xfrm>
          <a:off x="0" y="0"/>
          <a:ext cx="0" cy="0"/>
          <a:chOff x="0" y="0"/>
          <a:chExt cx="0" cy="0"/>
        </a:xfrm>
      </p:grpSpPr>
      <p:sp>
        <p:nvSpPr>
          <p:cNvPr id="6" name="TextBox 5"/>
          <p:cNvSpPr txBox="1"/>
          <p:nvPr/>
        </p:nvSpPr>
        <p:spPr>
          <a:xfrm>
            <a:off x="502920" y="1371600"/>
            <a:ext cx="10972800" cy="594360"/>
          </a:xfrm>
          <a:prstGeom prst="rect">
            <a:avLst/>
          </a:prstGeom>
          <a:noFill/>
        </p:spPr>
        <p:txBody>
          <a:bodyPr wrap="square">
            <a:spAutoFit/>
          </a:bodyPr>
          <a:lstStyle/>
          <a:p>
            <a:pPr algn="l"/>
            <a:r>
              <a:rPr sz="2800" b="1" i="0">
                <a:solidFill>
                  <a:srgbClr val="0D0D0D"/>
                </a:solidFill>
                <a:latin typeface="Calibri"/>
              </a:rPr>
              <a:t>PRESENTATION TOPIC: Steve Jobs</a:t>
            </a:r>
          </a:p>
        </p:txBody>
      </p:sp>
      <p:sp>
        <p:nvSpPr>
          <p:cNvPr id="7" name="TextBox 6"/>
          <p:cNvSpPr txBox="1"/>
          <p:nvPr/>
        </p:nvSpPr>
        <p:spPr>
          <a:xfrm>
            <a:off x="502920" y="2029968"/>
            <a:ext cx="9144000" cy="411480"/>
          </a:xfrm>
          <a:prstGeom prst="rect">
            <a:avLst/>
          </a:prstGeom>
          <a:noFill/>
        </p:spPr>
        <p:txBody>
          <a:bodyPr wrap="square">
            <a:spAutoFit/>
          </a:bodyPr>
          <a:lstStyle/>
          <a:p>
            <a:pPr algn="l"/>
            <a:r>
              <a:rPr sz="2000" b="1" i="0">
                <a:solidFill>
                  <a:srgbClr val="0D0D0D"/>
                </a:solidFill>
                <a:latin typeface="Calibri"/>
              </a:rPr>
              <a:t>Course Title: Operating System</a:t>
            </a:r>
          </a:p>
        </p:txBody>
      </p:sp>
      <p:sp>
        <p:nvSpPr>
          <p:cNvPr id="8" name="TextBox 7"/>
          <p:cNvSpPr txBox="1"/>
          <p:nvPr/>
        </p:nvSpPr>
        <p:spPr>
          <a:xfrm>
            <a:off x="502920" y="2468880"/>
            <a:ext cx="9144000" cy="411480"/>
          </a:xfrm>
          <a:prstGeom prst="rect">
            <a:avLst/>
          </a:prstGeom>
          <a:noFill/>
        </p:spPr>
        <p:txBody>
          <a:bodyPr wrap="square">
            <a:spAutoFit/>
          </a:bodyPr>
          <a:lstStyle/>
          <a:p>
            <a:pPr algn="l"/>
            <a:r>
              <a:rPr sz="2000" b="1" i="0">
                <a:solidFill>
                  <a:srgbClr val="0D0D0D"/>
                </a:solidFill>
                <a:latin typeface="Calibri"/>
              </a:rPr>
              <a:t>Course Code: ICT-2201</a:t>
            </a:r>
          </a:p>
        </p:txBody>
      </p:sp>
      <p:sp>
        <p:nvSpPr>
          <p:cNvPr id="9" name="Rectangle 8"/>
          <p:cNvSpPr/>
          <p:nvPr/>
        </p:nvSpPr>
        <p:spPr>
          <a:xfrm>
            <a:off x="365760" y="3063240"/>
            <a:ext cx="5394960" cy="3154680"/>
          </a:xfrm>
          <a:prstGeom prst="rect">
            <a:avLst/>
          </a:prstGeom>
          <a:solidFill>
            <a:srgbClr val="7E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4360" y="3200400"/>
            <a:ext cx="5029200" cy="2880360"/>
          </a:xfrm>
          <a:prstGeom prst="rect">
            <a:avLst/>
          </a:prstGeom>
          <a:noFill/>
        </p:spPr>
        <p:txBody>
          <a:bodyPr wrap="square">
            <a:spAutoFit/>
          </a:bodyPr>
          <a:lstStyle/>
          <a:p>
            <a:r>
              <a:rPr sz="1700" b="1">
                <a:solidFill>
                  <a:srgbClr val="0D0D0D"/>
                </a:solidFill>
                <a:latin typeface="Calibri"/>
              </a:rPr>
              <a:t>Presented By :</a:t>
            </a:r>
          </a:p>
          <a:p>
            <a:endParaRPr sz="1700" b="1">
              <a:solidFill>
                <a:srgbClr val="0D0D0D"/>
              </a:solidFill>
              <a:latin typeface="Calibri"/>
            </a:endParaRPr>
          </a:p>
          <a:p>
            <a:r>
              <a:rPr sz="1700" b="1">
                <a:solidFill>
                  <a:srgbClr val="0D0D0D"/>
                </a:solidFill>
                <a:latin typeface="Calibri"/>
              </a:rPr>
              <a:t>Md Jahidul Islam</a:t>
            </a:r>
          </a:p>
          <a:p>
            <a:r>
              <a:rPr sz="1700" b="1">
                <a:solidFill>
                  <a:srgbClr val="0D0D0D"/>
                </a:solidFill>
                <a:latin typeface="Calibri"/>
              </a:rPr>
              <a:t>ID: IT-24018</a:t>
            </a:r>
          </a:p>
          <a:p>
            <a:r>
              <a:rPr sz="1700" b="1">
                <a:solidFill>
                  <a:srgbClr val="0D0D0D"/>
                </a:solidFill>
                <a:latin typeface="Calibri"/>
              </a:rPr>
              <a:t>Department of Information and</a:t>
            </a:r>
          </a:p>
          <a:p>
            <a:r>
              <a:rPr sz="1700" b="1">
                <a:solidFill>
                  <a:srgbClr val="0D0D0D"/>
                </a:solidFill>
                <a:latin typeface="Calibri"/>
              </a:rPr>
              <a:t>Communication Technology,</a:t>
            </a:r>
          </a:p>
          <a:p>
            <a:r>
              <a:rPr sz="1700" b="1">
                <a:solidFill>
                  <a:srgbClr val="0D0D0D"/>
                </a:solidFill>
                <a:latin typeface="Calibri"/>
              </a:rPr>
              <a:t>MBSTU</a:t>
            </a:r>
          </a:p>
        </p:txBody>
      </p:sp>
      <p:sp>
        <p:nvSpPr>
          <p:cNvPr id="11" name="Rectangle 10"/>
          <p:cNvSpPr/>
          <p:nvPr/>
        </p:nvSpPr>
        <p:spPr>
          <a:xfrm>
            <a:off x="6309360" y="3063240"/>
            <a:ext cx="5486400" cy="3154680"/>
          </a:xfrm>
          <a:prstGeom prst="rect">
            <a:avLst/>
          </a:prstGeom>
          <a:solidFill>
            <a:srgbClr val="7E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37960" y="3200400"/>
            <a:ext cx="5120640" cy="2880360"/>
          </a:xfrm>
          <a:prstGeom prst="rect">
            <a:avLst/>
          </a:prstGeom>
          <a:noFill/>
        </p:spPr>
        <p:txBody>
          <a:bodyPr wrap="square">
            <a:spAutoFit/>
          </a:bodyPr>
          <a:lstStyle/>
          <a:p>
            <a:r>
              <a:rPr sz="1700" b="1" dirty="0">
                <a:solidFill>
                  <a:srgbClr val="0D0D0D"/>
                </a:solidFill>
                <a:latin typeface="Calibri"/>
              </a:rPr>
              <a:t>Supervised By :</a:t>
            </a:r>
          </a:p>
          <a:p>
            <a:endParaRPr sz="1700" b="1" dirty="0">
              <a:solidFill>
                <a:srgbClr val="0D0D0D"/>
              </a:solidFill>
              <a:latin typeface="Calibri"/>
            </a:endParaRPr>
          </a:p>
          <a:p>
            <a:r>
              <a:rPr sz="1700" b="1" dirty="0">
                <a:solidFill>
                  <a:srgbClr val="0D0D0D"/>
                </a:solidFill>
                <a:latin typeface="Calibri"/>
              </a:rPr>
              <a:t>Dr. Nazrul Islam</a:t>
            </a:r>
          </a:p>
          <a:p>
            <a:r>
              <a:rPr sz="1700" b="1" dirty="0">
                <a:solidFill>
                  <a:srgbClr val="0D0D0D"/>
                </a:solidFill>
                <a:latin typeface="Calibri"/>
              </a:rPr>
              <a:t>Associate Professor,</a:t>
            </a:r>
          </a:p>
          <a:p>
            <a:r>
              <a:rPr sz="1700" b="1" dirty="0">
                <a:solidFill>
                  <a:srgbClr val="0D0D0D"/>
                </a:solidFill>
                <a:latin typeface="Calibri"/>
              </a:rPr>
              <a:t>Department of Information and</a:t>
            </a:r>
          </a:p>
          <a:p>
            <a:r>
              <a:rPr sz="1700" b="1" dirty="0">
                <a:solidFill>
                  <a:srgbClr val="0D0D0D"/>
                </a:solidFill>
                <a:latin typeface="Calibri"/>
              </a:rPr>
              <a:t>Communication Technology,</a:t>
            </a:r>
          </a:p>
          <a:p>
            <a:r>
              <a:rPr sz="1700" b="1" dirty="0">
                <a:solidFill>
                  <a:srgbClr val="0D0D0D"/>
                </a:solidFill>
                <a:latin typeface="Calibri"/>
              </a:rPr>
              <a:t>MBSTU</a:t>
            </a:r>
          </a:p>
        </p:txBody>
      </p:sp>
      <p:sp>
        <p:nvSpPr>
          <p:cNvPr id="14" name="Rectangle 13"/>
          <p:cNvSpPr/>
          <p:nvPr/>
        </p:nvSpPr>
        <p:spPr>
          <a:xfrm>
            <a:off x="5262193" y="-2443387"/>
            <a:ext cx="370704" cy="323409"/>
          </a:xfrm>
          <a:prstGeom prst="rect">
            <a:avLst/>
          </a:prstGeom>
          <a:solidFill>
            <a:srgbClr val="8B1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0DC"/>
        </a:solidFill>
        <a:effectLst/>
      </p:bgPr>
    </p:bg>
    <p:spTree>
      <p:nvGrpSpPr>
        <p:cNvPr id="1" name=""/>
        <p:cNvGrpSpPr/>
        <p:nvPr/>
      </p:nvGrpSpPr>
      <p:grpSpPr>
        <a:xfrm>
          <a:off x="0" y="0"/>
          <a:ext cx="0" cy="0"/>
          <a:chOff x="0" y="0"/>
          <a:chExt cx="0" cy="0"/>
        </a:xfrm>
      </p:grpSpPr>
      <p:sp>
        <p:nvSpPr>
          <p:cNvPr id="2" name="Rectangle 1"/>
          <p:cNvSpPr/>
          <p:nvPr/>
        </p:nvSpPr>
        <p:spPr>
          <a:xfrm>
            <a:off x="5257800" y="109728"/>
            <a:ext cx="1005840" cy="777240"/>
          </a:xfrm>
          <a:prstGeom prst="rect">
            <a:avLst/>
          </a:prstGeom>
          <a:solidFill>
            <a:srgbClr val="E8E0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532120" y="246888"/>
            <a:ext cx="457200" cy="502920"/>
          </a:xfrm>
          <a:prstGeom prst="rect">
            <a:avLst/>
          </a:prstGeom>
          <a:solidFill>
            <a:srgbClr val="8B1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724144" y="-45720"/>
            <a:ext cx="73152" cy="182880"/>
          </a:xfrm>
          <a:prstGeom prst="rect">
            <a:avLst/>
          </a:prstGeom>
          <a:solidFill>
            <a:srgbClr val="C8A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754879" y="868680"/>
            <a:ext cx="2011680" cy="274320"/>
          </a:xfrm>
          <a:prstGeom prst="rect">
            <a:avLst/>
          </a:prstGeom>
          <a:noFill/>
        </p:spPr>
        <p:txBody>
          <a:bodyPr wrap="square">
            <a:spAutoFit/>
          </a:bodyPr>
          <a:lstStyle/>
          <a:p>
            <a:pPr algn="ctr"/>
            <a:r>
              <a:rPr sz="800" b="0" i="0">
                <a:solidFill>
                  <a:srgbClr val="555555"/>
                </a:solidFill>
                <a:latin typeface="Calibri"/>
              </a:rPr>
              <a:t>MBSTU</a:t>
            </a:r>
          </a:p>
        </p:txBody>
      </p:sp>
      <p:sp>
        <p:nvSpPr>
          <p:cNvPr id="6" name="Rectangle 5"/>
          <p:cNvSpPr/>
          <p:nvPr/>
        </p:nvSpPr>
        <p:spPr>
          <a:xfrm>
            <a:off x="0" y="0"/>
            <a:ext cx="12188952" cy="1051560"/>
          </a:xfrm>
          <a:prstGeom prst="rect">
            <a:avLst/>
          </a:prstGeom>
          <a:solidFill>
            <a:srgbClr val="7E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182880"/>
            <a:ext cx="11430000" cy="731520"/>
          </a:xfrm>
          <a:prstGeom prst="rect">
            <a:avLst/>
          </a:prstGeom>
          <a:noFill/>
        </p:spPr>
        <p:txBody>
          <a:bodyPr wrap="square">
            <a:spAutoFit/>
          </a:bodyPr>
          <a:lstStyle/>
          <a:p>
            <a:pPr algn="l"/>
            <a:r>
              <a:rPr sz="3000" b="1" i="0">
                <a:solidFill>
                  <a:srgbClr val="0D0D0D"/>
                </a:solidFill>
                <a:latin typeface="Calibri"/>
              </a:rPr>
              <a:t>Introduction</a:t>
            </a:r>
          </a:p>
        </p:txBody>
      </p:sp>
      <p:sp>
        <p:nvSpPr>
          <p:cNvPr id="8" name="Rectangle 7"/>
          <p:cNvSpPr/>
          <p:nvPr/>
        </p:nvSpPr>
        <p:spPr>
          <a:xfrm>
            <a:off x="0" y="1051560"/>
            <a:ext cx="12188952" cy="54864"/>
          </a:xfrm>
          <a:prstGeom prst="rect">
            <a:avLst/>
          </a:prstGeom>
          <a:solidFill>
            <a:srgbClr val="4A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65760" y="1234440"/>
            <a:ext cx="11430000" cy="3474720"/>
          </a:xfrm>
          <a:prstGeom prst="rect">
            <a:avLst/>
          </a:prstGeom>
          <a:solidFill>
            <a:srgbClr val="7E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4996" y="1435608"/>
            <a:ext cx="10972800" cy="3200400"/>
          </a:xfrm>
          <a:prstGeom prst="rect">
            <a:avLst/>
          </a:prstGeom>
          <a:noFill/>
        </p:spPr>
        <p:txBody>
          <a:bodyPr wrap="square">
            <a:spAutoFit/>
          </a:bodyPr>
          <a:lstStyle/>
          <a:p>
            <a:pPr algn="l"/>
            <a:r>
              <a:rPr sz="1500" b="0" i="0" dirty="0">
                <a:solidFill>
                  <a:srgbClr val="0D0D0D"/>
                </a:solidFill>
                <a:latin typeface="Calibri"/>
              </a:rPr>
              <a:t>Steve Jobs (1955–2011) was one of the most visionary and influential innovators in the history of modern technology. Born in San Francisco, California, he grew up in Silicon Valley and developed a deep passion for electronics from an early age.
He co-founded Apple Inc. in 1976 alongside Steve Wozniak and Ronald Wayne, transforming the company from a garage startup into one of the most valuable corporations in the world. Under his leadership, Apple introduced groundbreaking products such as the Macintosh, iMac, iPod, iPhone, and iPad — each of which revolutionized its respective industry.
Beyond Apple, Jobs also founded NeXT Inc. and acquired Pixar Animation Studios, which went on to produce landmark films like Toy Story — the world’s first fully computer-animated feature film.
His core philosophy centered on three powerful ideas: simplicity in design, seamless user experience, and the belief that technology and art must work together. Jobs was not just a businessman — he was a creative force who redefined how people interact with technology every day.</a:t>
            </a:r>
          </a:p>
        </p:txBody>
      </p:sp>
      <p:pic>
        <p:nvPicPr>
          <p:cNvPr id="2054" name="Picture 6" descr="Mawlana Bhashani Science and Technology University - MBSTU">
            <a:extLst>
              <a:ext uri="{FF2B5EF4-FFF2-40B4-BE49-F238E27FC236}">
                <a16:creationId xmlns:a16="http://schemas.microsoft.com/office/drawing/2014/main" id="{18D1B268-F94B-2B93-ECAB-1940298228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90760" y="4800600"/>
            <a:ext cx="1905000" cy="18288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0DC"/>
        </a:solidFill>
        <a:effectLst/>
      </p:bgPr>
    </p:bg>
    <p:spTree>
      <p:nvGrpSpPr>
        <p:cNvPr id="1" name=""/>
        <p:cNvGrpSpPr/>
        <p:nvPr/>
      </p:nvGrpSpPr>
      <p:grpSpPr>
        <a:xfrm>
          <a:off x="0" y="0"/>
          <a:ext cx="0" cy="0"/>
          <a:chOff x="0" y="0"/>
          <a:chExt cx="0" cy="0"/>
        </a:xfrm>
      </p:grpSpPr>
      <p:sp>
        <p:nvSpPr>
          <p:cNvPr id="2" name="Rectangle 1"/>
          <p:cNvSpPr/>
          <p:nvPr/>
        </p:nvSpPr>
        <p:spPr>
          <a:xfrm>
            <a:off x="5257800" y="109728"/>
            <a:ext cx="1005840" cy="777240"/>
          </a:xfrm>
          <a:prstGeom prst="rect">
            <a:avLst/>
          </a:prstGeom>
          <a:solidFill>
            <a:srgbClr val="E8E0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532120" y="246888"/>
            <a:ext cx="457200" cy="502920"/>
          </a:xfrm>
          <a:prstGeom prst="rect">
            <a:avLst/>
          </a:prstGeom>
          <a:solidFill>
            <a:srgbClr val="8B1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724144" y="-45720"/>
            <a:ext cx="73152" cy="182880"/>
          </a:xfrm>
          <a:prstGeom prst="rect">
            <a:avLst/>
          </a:prstGeom>
          <a:solidFill>
            <a:srgbClr val="C8A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754879" y="868680"/>
            <a:ext cx="2011680" cy="274320"/>
          </a:xfrm>
          <a:prstGeom prst="rect">
            <a:avLst/>
          </a:prstGeom>
          <a:noFill/>
        </p:spPr>
        <p:txBody>
          <a:bodyPr wrap="square">
            <a:spAutoFit/>
          </a:bodyPr>
          <a:lstStyle/>
          <a:p>
            <a:pPr algn="ctr"/>
            <a:r>
              <a:rPr sz="800" b="0" i="0">
                <a:solidFill>
                  <a:srgbClr val="555555"/>
                </a:solidFill>
                <a:latin typeface="Calibri"/>
              </a:rPr>
              <a:t>MBSTU</a:t>
            </a:r>
          </a:p>
        </p:txBody>
      </p:sp>
      <p:sp>
        <p:nvSpPr>
          <p:cNvPr id="6" name="Rectangle 5"/>
          <p:cNvSpPr/>
          <p:nvPr/>
        </p:nvSpPr>
        <p:spPr>
          <a:xfrm>
            <a:off x="0" y="0"/>
            <a:ext cx="12188952" cy="1051560"/>
          </a:xfrm>
          <a:prstGeom prst="rect">
            <a:avLst/>
          </a:prstGeom>
          <a:solidFill>
            <a:srgbClr val="7E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182880"/>
            <a:ext cx="11430000" cy="731520"/>
          </a:xfrm>
          <a:prstGeom prst="rect">
            <a:avLst/>
          </a:prstGeom>
          <a:noFill/>
        </p:spPr>
        <p:txBody>
          <a:bodyPr wrap="square">
            <a:spAutoFit/>
          </a:bodyPr>
          <a:lstStyle/>
          <a:p>
            <a:pPr algn="l"/>
            <a:r>
              <a:rPr sz="3000" b="1" i="0">
                <a:solidFill>
                  <a:srgbClr val="0D0D0D"/>
                </a:solidFill>
                <a:latin typeface="Calibri"/>
              </a:rPr>
              <a:t>Early Life</a:t>
            </a:r>
          </a:p>
        </p:txBody>
      </p:sp>
      <p:sp>
        <p:nvSpPr>
          <p:cNvPr id="8" name="Rectangle 7"/>
          <p:cNvSpPr/>
          <p:nvPr/>
        </p:nvSpPr>
        <p:spPr>
          <a:xfrm>
            <a:off x="0" y="1051560"/>
            <a:ext cx="12188952" cy="54864"/>
          </a:xfrm>
          <a:prstGeom prst="rect">
            <a:avLst/>
          </a:prstGeom>
          <a:solidFill>
            <a:srgbClr val="4A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65760" y="1234440"/>
            <a:ext cx="11430000" cy="4114800"/>
          </a:xfrm>
          <a:prstGeom prst="rect">
            <a:avLst/>
          </a:prstGeom>
          <a:solidFill>
            <a:srgbClr val="7E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1399032"/>
            <a:ext cx="11109960" cy="1923604"/>
          </a:xfrm>
          <a:prstGeom prst="rect">
            <a:avLst/>
          </a:prstGeom>
          <a:noFill/>
        </p:spPr>
        <p:txBody>
          <a:bodyPr wrap="square">
            <a:spAutoFit/>
          </a:bodyPr>
          <a:lstStyle/>
          <a:p>
            <a:r>
              <a:rPr sz="1350" b="0" dirty="0">
                <a:solidFill>
                  <a:srgbClr val="0D0D0D"/>
                </a:solidFill>
                <a:latin typeface="Calibri"/>
              </a:rPr>
              <a:t>•  Born on February 24, 1955, in San Francisco, California, USA. His biological parents were Joanne Schieble and Abdulfattah Jandali, a Syrian immigrant graduate student. Shortly after birth, he was put up for adoption.</a:t>
            </a:r>
            <a:endParaRPr lang="en-US" sz="1350" b="0" dirty="0">
              <a:solidFill>
                <a:srgbClr val="0D0D0D"/>
              </a:solidFill>
              <a:latin typeface="Calibri"/>
            </a:endParaRPr>
          </a:p>
          <a:p>
            <a:endParaRPr sz="1350" b="0" dirty="0">
              <a:solidFill>
                <a:srgbClr val="0D0D0D"/>
              </a:solidFill>
              <a:latin typeface="Calibri"/>
            </a:endParaRPr>
          </a:p>
          <a:p>
            <a:r>
              <a:rPr sz="1350" b="0" dirty="0">
                <a:solidFill>
                  <a:srgbClr val="0D0D0D"/>
                </a:solidFill>
                <a:latin typeface="Calibri"/>
              </a:rPr>
              <a:t>•  Adopted by Paul Reinhold Jobs and Clara Jobs, a working-class couple from Mountain View, California. Paul was a machinist and Clara was an accountant. They gave Steve a loving and supportive home, and Paul introduced him to the world of mechanics and electronics at a very young age.</a:t>
            </a:r>
            <a:endParaRPr lang="en-US" sz="1350" b="0" dirty="0">
              <a:solidFill>
                <a:srgbClr val="0D0D0D"/>
              </a:solidFill>
              <a:latin typeface="Calibri"/>
            </a:endParaRPr>
          </a:p>
          <a:p>
            <a:endParaRPr sz="1350" b="0" dirty="0">
              <a:solidFill>
                <a:srgbClr val="0D0D0D"/>
              </a:solidFill>
              <a:latin typeface="Calibri"/>
            </a:endParaRPr>
          </a:p>
          <a:p>
            <a:r>
              <a:rPr sz="1350" b="0" dirty="0">
                <a:solidFill>
                  <a:srgbClr val="0D0D0D"/>
                </a:solidFill>
                <a:latin typeface="Calibri"/>
              </a:rPr>
              <a:t>•  Grew up in the heart of Silicon Valley in the 1960s and 70s, surrounded by engineers, inventors, and early tech enthusiasts. This environment had a profound influence on his curiosity and ambition. Neighbors and family friends often worked in engineering or electronics-related fields.</a:t>
            </a:r>
            <a:endParaRPr lang="en-US" sz="1350" b="0" dirty="0">
              <a:solidFill>
                <a:srgbClr val="0D0D0D"/>
              </a:solidFill>
              <a:latin typeface="Calibri"/>
            </a:endParaRPr>
          </a:p>
          <a:p>
            <a:endParaRPr sz="1350" b="0" dirty="0">
              <a:solidFill>
                <a:srgbClr val="0D0D0D"/>
              </a:solidFill>
              <a:latin typeface="Calibri"/>
            </a:endParaRPr>
          </a:p>
          <a:p>
            <a:r>
              <a:rPr sz="1350" b="0" dirty="0">
                <a:solidFill>
                  <a:srgbClr val="0D0D0D"/>
                </a:solidFill>
                <a:latin typeface="Calibri"/>
              </a:rPr>
              <a:t>•  From a very young age, Steve showed an exceptional interest in electronics, circuits, and how things worked. He spent hours in the garage with his adoptive father tinkering with gadgets. At age 13, he called HP co-founder Bill Hewlett directly to ask for spare parts — and got a summer job from him.</a:t>
            </a:r>
          </a:p>
        </p:txBody>
      </p:sp>
      <p:pic>
        <p:nvPicPr>
          <p:cNvPr id="1032" name="Picture 8" descr="Mawlana Bhashani Science and Technology University - MBSTU">
            <a:extLst>
              <a:ext uri="{FF2B5EF4-FFF2-40B4-BE49-F238E27FC236}">
                <a16:creationId xmlns:a16="http://schemas.microsoft.com/office/drawing/2014/main" id="{FACAB006-A7C4-EEB3-D3C5-D77675DB5C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90760" y="5349240"/>
            <a:ext cx="1905000" cy="150876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0DC"/>
        </a:solidFill>
        <a:effectLst/>
      </p:bgPr>
    </p:bg>
    <p:spTree>
      <p:nvGrpSpPr>
        <p:cNvPr id="1" name=""/>
        <p:cNvGrpSpPr/>
        <p:nvPr/>
      </p:nvGrpSpPr>
      <p:grpSpPr>
        <a:xfrm>
          <a:off x="0" y="0"/>
          <a:ext cx="0" cy="0"/>
          <a:chOff x="0" y="0"/>
          <a:chExt cx="0" cy="0"/>
        </a:xfrm>
      </p:grpSpPr>
      <p:sp>
        <p:nvSpPr>
          <p:cNvPr id="2" name="Rectangle 1"/>
          <p:cNvSpPr/>
          <p:nvPr/>
        </p:nvSpPr>
        <p:spPr>
          <a:xfrm>
            <a:off x="5257800" y="109728"/>
            <a:ext cx="1005840" cy="777240"/>
          </a:xfrm>
          <a:prstGeom prst="rect">
            <a:avLst/>
          </a:prstGeom>
          <a:solidFill>
            <a:srgbClr val="E8E0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532120" y="246888"/>
            <a:ext cx="457200" cy="502920"/>
          </a:xfrm>
          <a:prstGeom prst="rect">
            <a:avLst/>
          </a:prstGeom>
          <a:solidFill>
            <a:srgbClr val="8B1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724144" y="-45720"/>
            <a:ext cx="73152" cy="182880"/>
          </a:xfrm>
          <a:prstGeom prst="rect">
            <a:avLst/>
          </a:prstGeom>
          <a:solidFill>
            <a:srgbClr val="C8A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754879" y="868680"/>
            <a:ext cx="2011680" cy="274320"/>
          </a:xfrm>
          <a:prstGeom prst="rect">
            <a:avLst/>
          </a:prstGeom>
          <a:noFill/>
        </p:spPr>
        <p:txBody>
          <a:bodyPr wrap="square">
            <a:spAutoFit/>
          </a:bodyPr>
          <a:lstStyle/>
          <a:p>
            <a:pPr algn="ctr"/>
            <a:r>
              <a:rPr sz="800" b="0" i="0">
                <a:solidFill>
                  <a:srgbClr val="555555"/>
                </a:solidFill>
                <a:latin typeface="Calibri"/>
              </a:rPr>
              <a:t>MBSTU</a:t>
            </a:r>
          </a:p>
        </p:txBody>
      </p:sp>
      <p:sp>
        <p:nvSpPr>
          <p:cNvPr id="6" name="Rectangle 5"/>
          <p:cNvSpPr/>
          <p:nvPr/>
        </p:nvSpPr>
        <p:spPr>
          <a:xfrm>
            <a:off x="0" y="0"/>
            <a:ext cx="12188952" cy="1051560"/>
          </a:xfrm>
          <a:prstGeom prst="rect">
            <a:avLst/>
          </a:prstGeom>
          <a:solidFill>
            <a:srgbClr val="7E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182880"/>
            <a:ext cx="11430000" cy="731520"/>
          </a:xfrm>
          <a:prstGeom prst="rect">
            <a:avLst/>
          </a:prstGeom>
          <a:noFill/>
        </p:spPr>
        <p:txBody>
          <a:bodyPr wrap="square">
            <a:spAutoFit/>
          </a:bodyPr>
          <a:lstStyle/>
          <a:p>
            <a:pPr algn="l"/>
            <a:r>
              <a:rPr sz="3000" b="1" i="0">
                <a:solidFill>
                  <a:srgbClr val="0D0D0D"/>
                </a:solidFill>
                <a:latin typeface="Calibri"/>
              </a:rPr>
              <a:t>Education</a:t>
            </a:r>
          </a:p>
        </p:txBody>
      </p:sp>
      <p:sp>
        <p:nvSpPr>
          <p:cNvPr id="8" name="Rectangle 7"/>
          <p:cNvSpPr/>
          <p:nvPr/>
        </p:nvSpPr>
        <p:spPr>
          <a:xfrm>
            <a:off x="0" y="1051560"/>
            <a:ext cx="12188952" cy="54864"/>
          </a:xfrm>
          <a:prstGeom prst="rect">
            <a:avLst/>
          </a:prstGeom>
          <a:solidFill>
            <a:srgbClr val="4A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65760" y="1234440"/>
            <a:ext cx="11430000" cy="3657600"/>
          </a:xfrm>
          <a:prstGeom prst="rect">
            <a:avLst/>
          </a:prstGeom>
          <a:solidFill>
            <a:srgbClr val="7E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1399032"/>
            <a:ext cx="11109960" cy="1400383"/>
          </a:xfrm>
          <a:prstGeom prst="rect">
            <a:avLst/>
          </a:prstGeom>
          <a:noFill/>
        </p:spPr>
        <p:txBody>
          <a:bodyPr wrap="square">
            <a:spAutoFit/>
          </a:bodyPr>
          <a:lstStyle/>
          <a:p>
            <a:r>
              <a:rPr sz="1350" b="0" dirty="0">
                <a:solidFill>
                  <a:srgbClr val="0D0D0D"/>
                </a:solidFill>
                <a:latin typeface="Calibri"/>
              </a:rPr>
              <a:t>•  In 1972, Steve Jobs enrolled at Reed College in Portland, Oregon — an expensive liberal arts college his parents had saved hard to afford. However, he dropped out after just six months because he felt guilty about spending his parents’ hard-earned savings on an education he wasn’t certain about. Despite dropping out, he continued to audit classes that genuinely interested him.</a:t>
            </a:r>
            <a:endParaRPr lang="en-US" sz="1350" b="0" dirty="0">
              <a:solidFill>
                <a:srgbClr val="0D0D0D"/>
              </a:solidFill>
              <a:latin typeface="Calibri"/>
            </a:endParaRPr>
          </a:p>
          <a:p>
            <a:endParaRPr sz="1350" b="0" dirty="0">
              <a:solidFill>
                <a:srgbClr val="0D0D0D"/>
              </a:solidFill>
              <a:latin typeface="Calibri"/>
            </a:endParaRPr>
          </a:p>
          <a:p>
            <a:r>
              <a:rPr sz="1350" b="0" dirty="0">
                <a:solidFill>
                  <a:srgbClr val="0D0D0D"/>
                </a:solidFill>
                <a:latin typeface="Calibri"/>
              </a:rPr>
              <a:t>•  One of the most consequential classes Jobs audited was calligraphy. He spent time learning about serif and sans-serif typefaces, the spacing between letters, and what makes great typography. At the time, it seemed completely impractical. However, ten years later, when designing the Macintosh, he applied everything he learned — making it the first computer with beautiful, proportionally spaced fonts. As he later said, “You can’t connect the dots looking forward; you can only connect them looking backwards.”</a:t>
            </a:r>
            <a:endParaRPr lang="en-US" sz="1350" b="0" dirty="0">
              <a:solidFill>
                <a:srgbClr val="0D0D0D"/>
              </a:solidFill>
              <a:latin typeface="Calibri"/>
            </a:endParaRPr>
          </a:p>
          <a:p>
            <a:endParaRPr sz="1350" b="0" dirty="0">
              <a:solidFill>
                <a:srgbClr val="0D0D0D"/>
              </a:solidFill>
              <a:latin typeface="Calibri"/>
            </a:endParaRPr>
          </a:p>
          <a:p>
            <a:r>
              <a:rPr sz="1350" b="0" dirty="0">
                <a:solidFill>
                  <a:srgbClr val="0D0D0D"/>
                </a:solidFill>
                <a:latin typeface="Calibri"/>
              </a:rPr>
              <a:t>•  Jobs firmly believed that formal education was not the only — or even the best — path to success. He was a strong advocate of learning by doing, following curiosity, and connecting seemingly unrelated fields. His unconventional educational background gave him a unique perspective that blended art, design, and technology in ways that traditional engineers never could.</a:t>
            </a:r>
          </a:p>
        </p:txBody>
      </p:sp>
      <p:pic>
        <p:nvPicPr>
          <p:cNvPr id="3074" name="Picture 2" descr="Academics – Mawlana Bhashani Science and Technology ...">
            <a:extLst>
              <a:ext uri="{FF2B5EF4-FFF2-40B4-BE49-F238E27FC236}">
                <a16:creationId xmlns:a16="http://schemas.microsoft.com/office/drawing/2014/main" id="{5BE13B77-AAF6-C6B3-2326-2A8EC60447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95510" y="4811077"/>
            <a:ext cx="2000250" cy="19907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0DC"/>
        </a:solidFill>
        <a:effectLst/>
      </p:bgPr>
    </p:bg>
    <p:spTree>
      <p:nvGrpSpPr>
        <p:cNvPr id="1" name=""/>
        <p:cNvGrpSpPr/>
        <p:nvPr/>
      </p:nvGrpSpPr>
      <p:grpSpPr>
        <a:xfrm>
          <a:off x="0" y="0"/>
          <a:ext cx="0" cy="0"/>
          <a:chOff x="0" y="0"/>
          <a:chExt cx="0" cy="0"/>
        </a:xfrm>
      </p:grpSpPr>
      <p:sp>
        <p:nvSpPr>
          <p:cNvPr id="2" name="Rectangle 1"/>
          <p:cNvSpPr/>
          <p:nvPr/>
        </p:nvSpPr>
        <p:spPr>
          <a:xfrm>
            <a:off x="5257800" y="109728"/>
            <a:ext cx="1005840" cy="777240"/>
          </a:xfrm>
          <a:prstGeom prst="rect">
            <a:avLst/>
          </a:prstGeom>
          <a:solidFill>
            <a:srgbClr val="E8E0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532120" y="246888"/>
            <a:ext cx="457200" cy="502920"/>
          </a:xfrm>
          <a:prstGeom prst="rect">
            <a:avLst/>
          </a:prstGeom>
          <a:solidFill>
            <a:srgbClr val="8B1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724144" y="-45720"/>
            <a:ext cx="73152" cy="182880"/>
          </a:xfrm>
          <a:prstGeom prst="rect">
            <a:avLst/>
          </a:prstGeom>
          <a:solidFill>
            <a:srgbClr val="C8A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754879" y="868680"/>
            <a:ext cx="2011680" cy="274320"/>
          </a:xfrm>
          <a:prstGeom prst="rect">
            <a:avLst/>
          </a:prstGeom>
          <a:noFill/>
        </p:spPr>
        <p:txBody>
          <a:bodyPr wrap="square">
            <a:spAutoFit/>
          </a:bodyPr>
          <a:lstStyle/>
          <a:p>
            <a:pPr algn="ctr"/>
            <a:r>
              <a:rPr sz="800" b="0" i="0">
                <a:solidFill>
                  <a:srgbClr val="555555"/>
                </a:solidFill>
                <a:latin typeface="Calibri"/>
              </a:rPr>
              <a:t>MBSTU</a:t>
            </a:r>
          </a:p>
        </p:txBody>
      </p:sp>
      <p:sp>
        <p:nvSpPr>
          <p:cNvPr id="6" name="Rectangle 5"/>
          <p:cNvSpPr/>
          <p:nvPr/>
        </p:nvSpPr>
        <p:spPr>
          <a:xfrm>
            <a:off x="0" y="0"/>
            <a:ext cx="12188952" cy="1051560"/>
          </a:xfrm>
          <a:prstGeom prst="rect">
            <a:avLst/>
          </a:prstGeom>
          <a:solidFill>
            <a:srgbClr val="7E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182880"/>
            <a:ext cx="11430000" cy="731520"/>
          </a:xfrm>
          <a:prstGeom prst="rect">
            <a:avLst/>
          </a:prstGeom>
          <a:noFill/>
        </p:spPr>
        <p:txBody>
          <a:bodyPr wrap="square">
            <a:spAutoFit/>
          </a:bodyPr>
          <a:lstStyle/>
          <a:p>
            <a:pPr algn="l"/>
            <a:r>
              <a:rPr sz="3000" b="1" i="0">
                <a:solidFill>
                  <a:srgbClr val="0D0D0D"/>
                </a:solidFill>
                <a:latin typeface="Calibri"/>
              </a:rPr>
              <a:t>Founding Apple</a:t>
            </a:r>
          </a:p>
        </p:txBody>
      </p:sp>
      <p:sp>
        <p:nvSpPr>
          <p:cNvPr id="8" name="Rectangle 7"/>
          <p:cNvSpPr/>
          <p:nvPr/>
        </p:nvSpPr>
        <p:spPr>
          <a:xfrm>
            <a:off x="0" y="1051560"/>
            <a:ext cx="12188952" cy="54864"/>
          </a:xfrm>
          <a:prstGeom prst="rect">
            <a:avLst/>
          </a:prstGeom>
          <a:solidFill>
            <a:srgbClr val="4A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65760" y="1234440"/>
            <a:ext cx="11430000" cy="4114800"/>
          </a:xfrm>
          <a:prstGeom prst="rect">
            <a:avLst/>
          </a:prstGeom>
          <a:solidFill>
            <a:srgbClr val="7E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42316" y="1399032"/>
            <a:ext cx="11109960" cy="1923604"/>
          </a:xfrm>
          <a:prstGeom prst="rect">
            <a:avLst/>
          </a:prstGeom>
          <a:noFill/>
        </p:spPr>
        <p:txBody>
          <a:bodyPr wrap="square">
            <a:spAutoFit/>
          </a:bodyPr>
          <a:lstStyle/>
          <a:p>
            <a:r>
              <a:rPr sz="1350" b="0" dirty="0">
                <a:solidFill>
                  <a:srgbClr val="0D0D0D"/>
                </a:solidFill>
                <a:latin typeface="Calibri"/>
              </a:rPr>
              <a:t>•  On April 1, 1976, Steve Jobs, Steve Wozniak, and Ronald Wayne officially co-founded Apple Computer Company. Wozniak was the brilliant engineer who built the hardware, while Jobs had the vision to see its commercial potential. Wayne, the older partner, drafted their original partnership agreement but sold his share just 12 days later for $800 — a decision that would cost him billions.</a:t>
            </a:r>
            <a:endParaRPr lang="en-US" sz="1350" b="0" dirty="0">
              <a:solidFill>
                <a:srgbClr val="0D0D0D"/>
              </a:solidFill>
              <a:latin typeface="Calibri"/>
            </a:endParaRPr>
          </a:p>
          <a:p>
            <a:endParaRPr sz="1350" b="0" dirty="0">
              <a:solidFill>
                <a:srgbClr val="0D0D0D"/>
              </a:solidFill>
              <a:latin typeface="Calibri"/>
            </a:endParaRPr>
          </a:p>
          <a:p>
            <a:r>
              <a:rPr sz="1350" b="0" dirty="0">
                <a:solidFill>
                  <a:srgbClr val="0D0D0D"/>
                </a:solidFill>
                <a:latin typeface="Calibri"/>
              </a:rPr>
              <a:t>•  The company started in the garage of Jobs’ childhood home at 2066 Crist Drive in Los Altos, California. With virtually no money, Jobs and Wozniak hand-assembled circuit boards in that modest space. The simplicity of the founding location became iconic — symbolizing that world-changing companies can start anywhere with the right idea and determination.</a:t>
            </a:r>
            <a:endParaRPr lang="en-US" sz="1350" b="0" dirty="0">
              <a:solidFill>
                <a:srgbClr val="0D0D0D"/>
              </a:solidFill>
              <a:latin typeface="Calibri"/>
            </a:endParaRPr>
          </a:p>
          <a:p>
            <a:endParaRPr sz="1350" b="0" dirty="0">
              <a:solidFill>
                <a:srgbClr val="0D0D0D"/>
              </a:solidFill>
              <a:latin typeface="Calibri"/>
            </a:endParaRPr>
          </a:p>
          <a:p>
            <a:r>
              <a:rPr sz="1350" b="0" dirty="0">
                <a:solidFill>
                  <a:srgbClr val="0D0D0D"/>
                </a:solidFill>
                <a:latin typeface="Calibri"/>
              </a:rPr>
              <a:t>•  The Apple I, released in 1976, was the first product Apple ever sold. It was a single-board computer with a price tag of $666.66. Unlike other computers of the time, it came fully assembled. About 200 units were produced, many sold to a local computer store called the Byte Shop. Today, original Apple I computers sell for over $400,000 at auction.</a:t>
            </a:r>
            <a:endParaRPr lang="en-US" sz="1350" b="0" dirty="0">
              <a:solidFill>
                <a:srgbClr val="0D0D0D"/>
              </a:solidFill>
              <a:latin typeface="Calibri"/>
            </a:endParaRPr>
          </a:p>
          <a:p>
            <a:endParaRPr sz="1350" b="0" dirty="0">
              <a:solidFill>
                <a:srgbClr val="0D0D0D"/>
              </a:solidFill>
              <a:latin typeface="Calibri"/>
            </a:endParaRPr>
          </a:p>
          <a:p>
            <a:r>
              <a:rPr sz="1350" b="0" dirty="0">
                <a:solidFill>
                  <a:srgbClr val="0D0D0D"/>
                </a:solidFill>
                <a:latin typeface="Calibri"/>
              </a:rPr>
              <a:t>•  The Apple II, launched in 1977, was a massive commercial breakthrough. It was one of the first highly successful mass-produced personal computers, featuring color graphics, a built-in keyboard, and expandable slots. It became widely used in homes, schools, and businesses across America, cementing Apple’s position as a pioneer of the personal computing revolution and generating millions in revenue.</a:t>
            </a:r>
          </a:p>
        </p:txBody>
      </p:sp>
      <p:pic>
        <p:nvPicPr>
          <p:cNvPr id="4098" name="Picture 2" descr="Academics – Mawlana Bhashani Science and Technology ...">
            <a:extLst>
              <a:ext uri="{FF2B5EF4-FFF2-40B4-BE49-F238E27FC236}">
                <a16:creationId xmlns:a16="http://schemas.microsoft.com/office/drawing/2014/main" id="{22A8CFBF-6245-5BBC-8D7C-9026793FDF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61754" y="5172849"/>
            <a:ext cx="1755622" cy="170414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0DC"/>
        </a:solidFill>
        <a:effectLst/>
      </p:bgPr>
    </p:bg>
    <p:spTree>
      <p:nvGrpSpPr>
        <p:cNvPr id="1" name=""/>
        <p:cNvGrpSpPr/>
        <p:nvPr/>
      </p:nvGrpSpPr>
      <p:grpSpPr>
        <a:xfrm>
          <a:off x="0" y="0"/>
          <a:ext cx="0" cy="0"/>
          <a:chOff x="0" y="0"/>
          <a:chExt cx="0" cy="0"/>
        </a:xfrm>
      </p:grpSpPr>
      <p:sp>
        <p:nvSpPr>
          <p:cNvPr id="2" name="Rectangle 1"/>
          <p:cNvSpPr/>
          <p:nvPr/>
        </p:nvSpPr>
        <p:spPr>
          <a:xfrm>
            <a:off x="5257800" y="109728"/>
            <a:ext cx="1005840" cy="777240"/>
          </a:xfrm>
          <a:prstGeom prst="rect">
            <a:avLst/>
          </a:prstGeom>
          <a:solidFill>
            <a:srgbClr val="E8E0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532120" y="246888"/>
            <a:ext cx="457200" cy="502920"/>
          </a:xfrm>
          <a:prstGeom prst="rect">
            <a:avLst/>
          </a:prstGeom>
          <a:solidFill>
            <a:srgbClr val="8B1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724144" y="-45720"/>
            <a:ext cx="73152" cy="182880"/>
          </a:xfrm>
          <a:prstGeom prst="rect">
            <a:avLst/>
          </a:prstGeom>
          <a:solidFill>
            <a:srgbClr val="C8A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754879" y="868680"/>
            <a:ext cx="2011680" cy="274320"/>
          </a:xfrm>
          <a:prstGeom prst="rect">
            <a:avLst/>
          </a:prstGeom>
          <a:noFill/>
        </p:spPr>
        <p:txBody>
          <a:bodyPr wrap="square">
            <a:spAutoFit/>
          </a:bodyPr>
          <a:lstStyle/>
          <a:p>
            <a:pPr algn="ctr"/>
            <a:r>
              <a:rPr sz="800" b="0" i="0">
                <a:solidFill>
                  <a:srgbClr val="555555"/>
                </a:solidFill>
                <a:latin typeface="Calibri"/>
              </a:rPr>
              <a:t>MBSTU</a:t>
            </a:r>
          </a:p>
        </p:txBody>
      </p:sp>
      <p:sp>
        <p:nvSpPr>
          <p:cNvPr id="6" name="Rectangle 5"/>
          <p:cNvSpPr/>
          <p:nvPr/>
        </p:nvSpPr>
        <p:spPr>
          <a:xfrm>
            <a:off x="0" y="0"/>
            <a:ext cx="12188952" cy="1051560"/>
          </a:xfrm>
          <a:prstGeom prst="rect">
            <a:avLst/>
          </a:prstGeom>
          <a:solidFill>
            <a:srgbClr val="7E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182880"/>
            <a:ext cx="11430000" cy="731520"/>
          </a:xfrm>
          <a:prstGeom prst="rect">
            <a:avLst/>
          </a:prstGeom>
          <a:noFill/>
        </p:spPr>
        <p:txBody>
          <a:bodyPr wrap="square">
            <a:spAutoFit/>
          </a:bodyPr>
          <a:lstStyle/>
          <a:p>
            <a:pPr algn="l"/>
            <a:r>
              <a:rPr sz="3000" b="1" i="0">
                <a:solidFill>
                  <a:srgbClr val="0D0D0D"/>
                </a:solidFill>
                <a:latin typeface="Calibri"/>
              </a:rPr>
              <a:t>NeXT &amp; Pixar</a:t>
            </a:r>
          </a:p>
        </p:txBody>
      </p:sp>
      <p:sp>
        <p:nvSpPr>
          <p:cNvPr id="8" name="Rectangle 7"/>
          <p:cNvSpPr/>
          <p:nvPr/>
        </p:nvSpPr>
        <p:spPr>
          <a:xfrm>
            <a:off x="0" y="1051560"/>
            <a:ext cx="12188952" cy="54864"/>
          </a:xfrm>
          <a:prstGeom prst="rect">
            <a:avLst/>
          </a:prstGeom>
          <a:solidFill>
            <a:srgbClr val="4A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65760" y="1234440"/>
            <a:ext cx="5486400" cy="4114800"/>
          </a:xfrm>
          <a:prstGeom prst="rect">
            <a:avLst/>
          </a:prstGeom>
          <a:solidFill>
            <a:srgbClr val="7E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1399032"/>
            <a:ext cx="5166360" cy="1400383"/>
          </a:xfrm>
          <a:prstGeom prst="rect">
            <a:avLst/>
          </a:prstGeom>
          <a:noFill/>
        </p:spPr>
        <p:txBody>
          <a:bodyPr wrap="square">
            <a:spAutoFit/>
          </a:bodyPr>
          <a:lstStyle/>
          <a:p>
            <a:r>
              <a:rPr sz="1350" b="0" dirty="0">
                <a:solidFill>
                  <a:srgbClr val="0D0D0D"/>
                </a:solidFill>
                <a:latin typeface="Calibri"/>
              </a:rPr>
              <a:t>•  In 1985, following an internal power struggle with Apple’s board of directors and then-CEO John Sculley, Steve Jobs was forced out of the company he had co-founded. This was a painful and public humiliation, but Jobs later described it as one of the best things that ever happened to him — it freed him to enter one of the most creative periods of his life.</a:t>
            </a:r>
            <a:endParaRPr lang="en-US" sz="1350" b="0" dirty="0">
              <a:solidFill>
                <a:srgbClr val="0D0D0D"/>
              </a:solidFill>
              <a:latin typeface="Calibri"/>
            </a:endParaRPr>
          </a:p>
          <a:p>
            <a:endParaRPr sz="1350" b="0" dirty="0">
              <a:solidFill>
                <a:srgbClr val="0D0D0D"/>
              </a:solidFill>
              <a:latin typeface="Calibri"/>
            </a:endParaRPr>
          </a:p>
          <a:p>
            <a:r>
              <a:rPr sz="1350" b="0" dirty="0">
                <a:solidFill>
                  <a:srgbClr val="0D0D0D"/>
                </a:solidFill>
                <a:latin typeface="Calibri"/>
              </a:rPr>
              <a:t>•  Shortly after leaving Apple, Jobs founded NeXT Inc. in 1985, investing $7 million of his own money. NeXT produced high-end workstation computers primarily targeted at universities and scientific communities. The machines were beautiful and technically advanced, featuring an object-oriented operating system called NeXTSTEP. Though NeXT computers were expensive and never achieved mainstream success, the software was revolutionary.</a:t>
            </a:r>
            <a:endParaRPr lang="en-US" sz="1350" b="0" dirty="0">
              <a:solidFill>
                <a:srgbClr val="0D0D0D"/>
              </a:solidFill>
              <a:latin typeface="Calibri"/>
            </a:endParaRPr>
          </a:p>
          <a:p>
            <a:endParaRPr sz="1350" b="0" dirty="0">
              <a:solidFill>
                <a:srgbClr val="0D0D0D"/>
              </a:solidFill>
              <a:latin typeface="Calibri"/>
            </a:endParaRPr>
          </a:p>
          <a:p>
            <a:r>
              <a:rPr sz="1350" b="0" dirty="0">
                <a:solidFill>
                  <a:srgbClr val="0D0D0D"/>
                </a:solidFill>
                <a:latin typeface="Calibri"/>
              </a:rPr>
              <a:t>•  When Apple acquired NeXT in 1997 for approximately $429 million, it was the NeXTSTEP operating system that became the foundation of what would eventually become macOS — the operating system that still powers every Mac computer today. This acquisition also brought Jobs back to Apple, changing the company’s trajectory forever.</a:t>
            </a:r>
          </a:p>
        </p:txBody>
      </p:sp>
      <p:sp>
        <p:nvSpPr>
          <p:cNvPr id="11" name="Rectangle 10"/>
          <p:cNvSpPr/>
          <p:nvPr/>
        </p:nvSpPr>
        <p:spPr>
          <a:xfrm>
            <a:off x="6263640" y="1234440"/>
            <a:ext cx="5532120" cy="4114800"/>
          </a:xfrm>
          <a:prstGeom prst="rect">
            <a:avLst/>
          </a:prstGeom>
          <a:solidFill>
            <a:srgbClr val="7E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46520" y="1399032"/>
            <a:ext cx="5212080" cy="1923604"/>
          </a:xfrm>
          <a:prstGeom prst="rect">
            <a:avLst/>
          </a:prstGeom>
          <a:noFill/>
        </p:spPr>
        <p:txBody>
          <a:bodyPr wrap="square">
            <a:spAutoFit/>
          </a:bodyPr>
          <a:lstStyle/>
          <a:p>
            <a:r>
              <a:rPr sz="1350" b="0" dirty="0">
                <a:solidFill>
                  <a:srgbClr val="0D0D0D"/>
                </a:solidFill>
                <a:latin typeface="Calibri"/>
              </a:rPr>
              <a:t>•  In 1986, Jobs purchased the Graphics Group from Lucasfilm for $5 million and renamed it Pixar Animation Studios. He invested heavily in the company over the following years. At the time, Pixar was a small graphics software company. Jobs had a bold vision for its future in computer animation that most people did not share.</a:t>
            </a:r>
            <a:endParaRPr lang="en-US" sz="1350" b="0" dirty="0">
              <a:solidFill>
                <a:srgbClr val="0D0D0D"/>
              </a:solidFill>
              <a:latin typeface="Calibri"/>
            </a:endParaRPr>
          </a:p>
          <a:p>
            <a:endParaRPr sz="1350" b="0" dirty="0">
              <a:solidFill>
                <a:srgbClr val="0D0D0D"/>
              </a:solidFill>
              <a:latin typeface="Calibri"/>
            </a:endParaRPr>
          </a:p>
          <a:p>
            <a:r>
              <a:rPr sz="1350" b="0" dirty="0">
                <a:solidFill>
                  <a:srgbClr val="0D0D0D"/>
                </a:solidFill>
                <a:latin typeface="Calibri"/>
              </a:rPr>
              <a:t>•  Under Jobs’ ownership, Pixar partnered with Walt Disney Pictures and produced Toy Story in 1995 — the world’s first fully computer-animated feature film. The movie was a critical and commercial sensation, earning over $373 million worldwide on a $30 million budget. It changed animated filmmaking forever.</a:t>
            </a:r>
            <a:endParaRPr lang="en-US" sz="1350" b="0" dirty="0">
              <a:solidFill>
                <a:srgbClr val="0D0D0D"/>
              </a:solidFill>
              <a:latin typeface="Calibri"/>
            </a:endParaRPr>
          </a:p>
          <a:p>
            <a:endParaRPr sz="1350" b="0" dirty="0">
              <a:solidFill>
                <a:srgbClr val="0D0D0D"/>
              </a:solidFill>
              <a:latin typeface="Calibri"/>
            </a:endParaRPr>
          </a:p>
          <a:p>
            <a:r>
              <a:rPr sz="1350" b="0" dirty="0">
                <a:solidFill>
                  <a:srgbClr val="0D0D0D"/>
                </a:solidFill>
                <a:latin typeface="Calibri"/>
              </a:rPr>
              <a:t>•  Toy Story demonstrated that computer animation could tell emotionally compelling, full-length stories — something that had never been done before. It opened the door for an entirely new era of animated filmmaking. Pixar went on to produce numerous acclaimed films including A Bug’s Life, Monsters Inc., Finding Nemo, The Incredibles, and WALL-E.</a:t>
            </a:r>
            <a:endParaRPr lang="en-US" sz="1350" b="0" dirty="0">
              <a:solidFill>
                <a:srgbClr val="0D0D0D"/>
              </a:solidFill>
              <a:latin typeface="Calibri"/>
            </a:endParaRPr>
          </a:p>
          <a:p>
            <a:endParaRPr sz="1350" b="0" dirty="0">
              <a:solidFill>
                <a:srgbClr val="0D0D0D"/>
              </a:solidFill>
              <a:latin typeface="Calibri"/>
            </a:endParaRPr>
          </a:p>
          <a:p>
            <a:r>
              <a:rPr sz="1350" b="0" dirty="0">
                <a:solidFill>
                  <a:srgbClr val="0D0D0D"/>
                </a:solidFill>
                <a:latin typeface="Calibri"/>
              </a:rPr>
              <a:t>•  In 2006, The Walt Disney Company acquired Pixar for approximately $7.4 billion in an all-stock deal. As a result, Steve Jobs became Disney’s largest individual shareholder, owning about 7% of Disney’s stock. This deal made Jobs a billionaire through Pixar alone, separate from his role at Apple.</a:t>
            </a:r>
          </a:p>
        </p:txBody>
      </p:sp>
      <p:pic>
        <p:nvPicPr>
          <p:cNvPr id="5122" name="Picture 2" descr="Academics – Mawlana Bhashani Science and Technology ...">
            <a:extLst>
              <a:ext uri="{FF2B5EF4-FFF2-40B4-BE49-F238E27FC236}">
                <a16:creationId xmlns:a16="http://schemas.microsoft.com/office/drawing/2014/main" id="{4160EC85-B427-CCBC-C0D8-F43DB9F1BD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69909" y="5222502"/>
            <a:ext cx="1853155" cy="163549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0DC"/>
        </a:solidFill>
        <a:effectLst/>
      </p:bgPr>
    </p:bg>
    <p:spTree>
      <p:nvGrpSpPr>
        <p:cNvPr id="1" name=""/>
        <p:cNvGrpSpPr/>
        <p:nvPr/>
      </p:nvGrpSpPr>
      <p:grpSpPr>
        <a:xfrm>
          <a:off x="0" y="0"/>
          <a:ext cx="0" cy="0"/>
          <a:chOff x="0" y="0"/>
          <a:chExt cx="0" cy="0"/>
        </a:xfrm>
      </p:grpSpPr>
      <p:sp>
        <p:nvSpPr>
          <p:cNvPr id="2" name="Rectangle 1"/>
          <p:cNvSpPr/>
          <p:nvPr/>
        </p:nvSpPr>
        <p:spPr>
          <a:xfrm>
            <a:off x="5257800" y="109728"/>
            <a:ext cx="1005840" cy="777240"/>
          </a:xfrm>
          <a:prstGeom prst="rect">
            <a:avLst/>
          </a:prstGeom>
          <a:solidFill>
            <a:srgbClr val="E8E0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532120" y="246888"/>
            <a:ext cx="457200" cy="502920"/>
          </a:xfrm>
          <a:prstGeom prst="rect">
            <a:avLst/>
          </a:prstGeom>
          <a:solidFill>
            <a:srgbClr val="8B1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724144" y="-45720"/>
            <a:ext cx="73152" cy="182880"/>
          </a:xfrm>
          <a:prstGeom prst="rect">
            <a:avLst/>
          </a:prstGeom>
          <a:solidFill>
            <a:srgbClr val="C8A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754879" y="868680"/>
            <a:ext cx="2011680" cy="274320"/>
          </a:xfrm>
          <a:prstGeom prst="rect">
            <a:avLst/>
          </a:prstGeom>
          <a:noFill/>
        </p:spPr>
        <p:txBody>
          <a:bodyPr wrap="square">
            <a:spAutoFit/>
          </a:bodyPr>
          <a:lstStyle/>
          <a:p>
            <a:pPr algn="ctr"/>
            <a:r>
              <a:rPr sz="800" b="0" i="0">
                <a:solidFill>
                  <a:srgbClr val="555555"/>
                </a:solidFill>
                <a:latin typeface="Calibri"/>
              </a:rPr>
              <a:t>MBSTU</a:t>
            </a:r>
          </a:p>
        </p:txBody>
      </p:sp>
      <p:sp>
        <p:nvSpPr>
          <p:cNvPr id="6" name="Rectangle 5"/>
          <p:cNvSpPr/>
          <p:nvPr/>
        </p:nvSpPr>
        <p:spPr>
          <a:xfrm>
            <a:off x="0" y="0"/>
            <a:ext cx="12188952" cy="1051560"/>
          </a:xfrm>
          <a:prstGeom prst="rect">
            <a:avLst/>
          </a:prstGeom>
          <a:solidFill>
            <a:srgbClr val="7E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182880"/>
            <a:ext cx="11430000" cy="731520"/>
          </a:xfrm>
          <a:prstGeom prst="rect">
            <a:avLst/>
          </a:prstGeom>
          <a:noFill/>
        </p:spPr>
        <p:txBody>
          <a:bodyPr wrap="square">
            <a:spAutoFit/>
          </a:bodyPr>
          <a:lstStyle/>
          <a:p>
            <a:pPr algn="l"/>
            <a:r>
              <a:rPr sz="3000" b="1" i="0">
                <a:solidFill>
                  <a:srgbClr val="0D0D0D"/>
                </a:solidFill>
                <a:latin typeface="Calibri"/>
              </a:rPr>
              <a:t>Return to Apple</a:t>
            </a:r>
          </a:p>
        </p:txBody>
      </p:sp>
      <p:sp>
        <p:nvSpPr>
          <p:cNvPr id="8" name="Rectangle 7"/>
          <p:cNvSpPr/>
          <p:nvPr/>
        </p:nvSpPr>
        <p:spPr>
          <a:xfrm>
            <a:off x="0" y="1051560"/>
            <a:ext cx="12188952" cy="54864"/>
          </a:xfrm>
          <a:prstGeom prst="rect">
            <a:avLst/>
          </a:prstGeom>
          <a:solidFill>
            <a:srgbClr val="4A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74320" y="1097280"/>
            <a:ext cx="11430000" cy="4114800"/>
          </a:xfrm>
          <a:prstGeom prst="rect">
            <a:avLst/>
          </a:prstGeom>
          <a:solidFill>
            <a:srgbClr val="7E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1399032"/>
            <a:ext cx="11109960" cy="1923604"/>
          </a:xfrm>
          <a:prstGeom prst="rect">
            <a:avLst/>
          </a:prstGeom>
          <a:noFill/>
        </p:spPr>
        <p:txBody>
          <a:bodyPr wrap="square">
            <a:spAutoFit/>
          </a:bodyPr>
          <a:lstStyle/>
          <a:p>
            <a:r>
              <a:rPr sz="1350" b="0" dirty="0">
                <a:solidFill>
                  <a:srgbClr val="0D0D0D"/>
                </a:solidFill>
                <a:latin typeface="Calibri"/>
              </a:rPr>
              <a:t>•  In 1997, Apple acquired NeXT for $429 million, and Steve Jobs returned to the company he had co-founded — first as an advisor, then as interim CEO. It was a dramatic homecoming. The man once forced out of Apple came back as its only hope for survival. Jobs officially became permanent CEO in 2000 and held the position until his resignation in August 2011.</a:t>
            </a:r>
            <a:endParaRPr lang="en-US" sz="1350" b="0" dirty="0">
              <a:solidFill>
                <a:srgbClr val="0D0D0D"/>
              </a:solidFill>
              <a:latin typeface="Calibri"/>
            </a:endParaRPr>
          </a:p>
          <a:p>
            <a:endParaRPr sz="1350" b="0" dirty="0">
              <a:solidFill>
                <a:srgbClr val="0D0D0D"/>
              </a:solidFill>
              <a:latin typeface="Calibri"/>
            </a:endParaRPr>
          </a:p>
          <a:p>
            <a:r>
              <a:rPr sz="1350" b="0" dirty="0">
                <a:solidFill>
                  <a:srgbClr val="0D0D0D"/>
                </a:solidFill>
                <a:latin typeface="Calibri"/>
              </a:rPr>
              <a:t>•  When Jobs returned, Apple was in deep financial crisis. The company had lost over $1 billion in the previous year and was just 90 days from bankruptcy. Its product lineup was confusing and overstretched, its market share was tiny, and morale inside the company was extremely low. Many industry analysts and journalists were predicting that Apple would shut down within months.</a:t>
            </a:r>
            <a:endParaRPr lang="en-US" sz="1350" b="0" dirty="0">
              <a:solidFill>
                <a:srgbClr val="0D0D0D"/>
              </a:solidFill>
              <a:latin typeface="Calibri"/>
            </a:endParaRPr>
          </a:p>
          <a:p>
            <a:endParaRPr sz="1350" b="0" dirty="0">
              <a:solidFill>
                <a:srgbClr val="0D0D0D"/>
              </a:solidFill>
              <a:latin typeface="Calibri"/>
            </a:endParaRPr>
          </a:p>
          <a:p>
            <a:r>
              <a:rPr sz="1350" b="0" dirty="0">
                <a:solidFill>
                  <a:srgbClr val="0D0D0D"/>
                </a:solidFill>
                <a:latin typeface="Calibri"/>
              </a:rPr>
              <a:t>•  Jobs immediately took bold action. He streamlined Apple’s product line from dozens of confusing models down to just four: a consumer desktop, a pro desktop, a consumer laptop, and a pro laptop. He partnered with Microsoft to secure a $150 million investment. He rebuilt Apple’s design team under Jony Ive, and refocused the entire company on simplicity, quality, and innovation — producing iconic products like the iMac, iPod, iPhone, and iPad.</a:t>
            </a:r>
            <a:endParaRPr lang="en-US" sz="1350" b="0" dirty="0">
              <a:solidFill>
                <a:srgbClr val="0D0D0D"/>
              </a:solidFill>
              <a:latin typeface="Calibri"/>
            </a:endParaRPr>
          </a:p>
          <a:p>
            <a:endParaRPr sz="1350" b="0" dirty="0">
              <a:solidFill>
                <a:srgbClr val="0D0D0D"/>
              </a:solidFill>
              <a:latin typeface="Calibri"/>
            </a:endParaRPr>
          </a:p>
          <a:p>
            <a:r>
              <a:rPr sz="1350" b="0" dirty="0">
                <a:solidFill>
                  <a:srgbClr val="0D0D0D"/>
                </a:solidFill>
                <a:latin typeface="Calibri"/>
              </a:rPr>
              <a:t>•  One of Jobs’ first acts upon returning was launching the “Think Different” advertising campaign in 1997. The campaign celebrated history’s greatest creative rebels — Einstein, Gandhi, Picasso, Amelia Earhart, and others — with the message that people who are crazy enough to think they can change the world are the ones who do. The campaign was not just advertising; it was a rallying cry for Apple employees and a declaration that Apple was back and ready to lead again.</a:t>
            </a:r>
          </a:p>
        </p:txBody>
      </p:sp>
      <p:pic>
        <p:nvPicPr>
          <p:cNvPr id="6146" name="Picture 2" descr="Academics – Mawlana Bhashani Science and Technology ...">
            <a:extLst>
              <a:ext uri="{FF2B5EF4-FFF2-40B4-BE49-F238E27FC236}">
                <a16:creationId xmlns:a16="http://schemas.microsoft.com/office/drawing/2014/main" id="{F7F1B66B-61EA-F085-3D98-129A43B92C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95510" y="5053781"/>
            <a:ext cx="2000250" cy="180421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0DC"/>
        </a:solidFill>
        <a:effectLst/>
      </p:bgPr>
    </p:bg>
    <p:spTree>
      <p:nvGrpSpPr>
        <p:cNvPr id="1" name=""/>
        <p:cNvGrpSpPr/>
        <p:nvPr/>
      </p:nvGrpSpPr>
      <p:grpSpPr>
        <a:xfrm>
          <a:off x="0" y="0"/>
          <a:ext cx="0" cy="0"/>
          <a:chOff x="0" y="0"/>
          <a:chExt cx="0" cy="0"/>
        </a:xfrm>
      </p:grpSpPr>
      <p:sp>
        <p:nvSpPr>
          <p:cNvPr id="2" name="Rectangle 1"/>
          <p:cNvSpPr/>
          <p:nvPr/>
        </p:nvSpPr>
        <p:spPr>
          <a:xfrm>
            <a:off x="5257800" y="109728"/>
            <a:ext cx="1005840" cy="777240"/>
          </a:xfrm>
          <a:prstGeom prst="rect">
            <a:avLst/>
          </a:prstGeom>
          <a:solidFill>
            <a:srgbClr val="E8E0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532120" y="246888"/>
            <a:ext cx="457200" cy="502920"/>
          </a:xfrm>
          <a:prstGeom prst="rect">
            <a:avLst/>
          </a:prstGeom>
          <a:solidFill>
            <a:srgbClr val="8B1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724144" y="-45720"/>
            <a:ext cx="73152" cy="182880"/>
          </a:xfrm>
          <a:prstGeom prst="rect">
            <a:avLst/>
          </a:prstGeom>
          <a:solidFill>
            <a:srgbClr val="C8A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754879" y="868680"/>
            <a:ext cx="2011680" cy="274320"/>
          </a:xfrm>
          <a:prstGeom prst="rect">
            <a:avLst/>
          </a:prstGeom>
          <a:noFill/>
        </p:spPr>
        <p:txBody>
          <a:bodyPr wrap="square">
            <a:spAutoFit/>
          </a:bodyPr>
          <a:lstStyle/>
          <a:p>
            <a:pPr algn="ctr"/>
            <a:r>
              <a:rPr sz="800" b="0" i="0">
                <a:solidFill>
                  <a:srgbClr val="555555"/>
                </a:solidFill>
                <a:latin typeface="Calibri"/>
              </a:rPr>
              <a:t>MBSTU</a:t>
            </a:r>
          </a:p>
        </p:txBody>
      </p:sp>
      <p:sp>
        <p:nvSpPr>
          <p:cNvPr id="6" name="Rectangle 5"/>
          <p:cNvSpPr/>
          <p:nvPr/>
        </p:nvSpPr>
        <p:spPr>
          <a:xfrm>
            <a:off x="0" y="0"/>
            <a:ext cx="12188952" cy="1051560"/>
          </a:xfrm>
          <a:prstGeom prst="rect">
            <a:avLst/>
          </a:prstGeom>
          <a:solidFill>
            <a:srgbClr val="7E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182880"/>
            <a:ext cx="11430000" cy="731520"/>
          </a:xfrm>
          <a:prstGeom prst="rect">
            <a:avLst/>
          </a:prstGeom>
          <a:noFill/>
        </p:spPr>
        <p:txBody>
          <a:bodyPr wrap="square">
            <a:spAutoFit/>
          </a:bodyPr>
          <a:lstStyle/>
          <a:p>
            <a:pPr algn="l"/>
            <a:r>
              <a:rPr sz="3000" b="1" i="0">
                <a:solidFill>
                  <a:srgbClr val="0D0D0D"/>
                </a:solidFill>
                <a:latin typeface="Calibri"/>
              </a:rPr>
              <a:t>Major Innovations</a:t>
            </a:r>
          </a:p>
        </p:txBody>
      </p:sp>
      <p:sp>
        <p:nvSpPr>
          <p:cNvPr id="8" name="Rectangle 7"/>
          <p:cNvSpPr/>
          <p:nvPr/>
        </p:nvSpPr>
        <p:spPr>
          <a:xfrm>
            <a:off x="0" y="1051560"/>
            <a:ext cx="12188952" cy="54864"/>
          </a:xfrm>
          <a:prstGeom prst="rect">
            <a:avLst/>
          </a:prstGeom>
          <a:solidFill>
            <a:srgbClr val="4A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20040" y="1234440"/>
            <a:ext cx="2697480" cy="4114800"/>
          </a:xfrm>
          <a:prstGeom prst="rect">
            <a:avLst/>
          </a:prstGeom>
          <a:solidFill>
            <a:srgbClr val="7E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1371600"/>
            <a:ext cx="2423160" cy="1005840"/>
          </a:xfrm>
          <a:prstGeom prst="rect">
            <a:avLst/>
          </a:prstGeom>
          <a:noFill/>
        </p:spPr>
        <p:txBody>
          <a:bodyPr wrap="square">
            <a:spAutoFit/>
          </a:bodyPr>
          <a:lstStyle/>
          <a:p>
            <a:pPr algn="ctr"/>
            <a:r>
              <a:rPr sz="2000" b="1" i="0">
                <a:solidFill>
                  <a:srgbClr val="0D0D0D"/>
                </a:solidFill>
                <a:latin typeface="Calibri"/>
              </a:rPr>
              <a:t>iMac
1998</a:t>
            </a:r>
          </a:p>
        </p:txBody>
      </p:sp>
      <p:sp>
        <p:nvSpPr>
          <p:cNvPr id="11" name="Rectangle 10"/>
          <p:cNvSpPr/>
          <p:nvPr/>
        </p:nvSpPr>
        <p:spPr>
          <a:xfrm>
            <a:off x="411479" y="2423160"/>
            <a:ext cx="2514600" cy="45720"/>
          </a:xfrm>
          <a:prstGeom prst="rect">
            <a:avLst/>
          </a:prstGeom>
          <a:solidFill>
            <a:srgbClr val="4A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 y="2560320"/>
            <a:ext cx="2423160" cy="1371600"/>
          </a:xfrm>
          <a:prstGeom prst="rect">
            <a:avLst/>
          </a:prstGeom>
          <a:noFill/>
        </p:spPr>
        <p:txBody>
          <a:bodyPr wrap="square">
            <a:spAutoFit/>
          </a:bodyPr>
          <a:lstStyle/>
          <a:p>
            <a:pPr algn="ctr"/>
            <a:r>
              <a:rPr sz="1600" b="1" i="0">
                <a:solidFill>
                  <a:srgbClr val="0D0D0D"/>
                </a:solidFill>
                <a:latin typeface="Calibri"/>
              </a:rPr>
              <a:t>Saved Apple from
bankruptcy</a:t>
            </a:r>
          </a:p>
        </p:txBody>
      </p:sp>
      <p:sp>
        <p:nvSpPr>
          <p:cNvPr id="13" name="Rectangle 12"/>
          <p:cNvSpPr/>
          <p:nvPr/>
        </p:nvSpPr>
        <p:spPr>
          <a:xfrm>
            <a:off x="3246120" y="1234440"/>
            <a:ext cx="2697480" cy="4114800"/>
          </a:xfrm>
          <a:prstGeom prst="rect">
            <a:avLst/>
          </a:prstGeom>
          <a:solidFill>
            <a:srgbClr val="7E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383280" y="1371600"/>
            <a:ext cx="2423160" cy="1005840"/>
          </a:xfrm>
          <a:prstGeom prst="rect">
            <a:avLst/>
          </a:prstGeom>
          <a:noFill/>
        </p:spPr>
        <p:txBody>
          <a:bodyPr wrap="square">
            <a:spAutoFit/>
          </a:bodyPr>
          <a:lstStyle/>
          <a:p>
            <a:pPr algn="ctr"/>
            <a:r>
              <a:rPr sz="2000" b="1" i="0">
                <a:solidFill>
                  <a:srgbClr val="0D0D0D"/>
                </a:solidFill>
                <a:latin typeface="Calibri"/>
              </a:rPr>
              <a:t>iPod
2001</a:t>
            </a:r>
          </a:p>
        </p:txBody>
      </p:sp>
      <p:sp>
        <p:nvSpPr>
          <p:cNvPr id="15" name="Rectangle 14"/>
          <p:cNvSpPr/>
          <p:nvPr/>
        </p:nvSpPr>
        <p:spPr>
          <a:xfrm>
            <a:off x="3337560" y="2423160"/>
            <a:ext cx="2514600" cy="45720"/>
          </a:xfrm>
          <a:prstGeom prst="rect">
            <a:avLst/>
          </a:prstGeom>
          <a:solidFill>
            <a:srgbClr val="4A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383280" y="2560320"/>
            <a:ext cx="2423160" cy="1371600"/>
          </a:xfrm>
          <a:prstGeom prst="rect">
            <a:avLst/>
          </a:prstGeom>
          <a:noFill/>
        </p:spPr>
        <p:txBody>
          <a:bodyPr wrap="square">
            <a:spAutoFit/>
          </a:bodyPr>
          <a:lstStyle/>
          <a:p>
            <a:pPr algn="ctr"/>
            <a:r>
              <a:rPr sz="1600" b="1" i="0">
                <a:solidFill>
                  <a:srgbClr val="0D0D0D"/>
                </a:solidFill>
                <a:latin typeface="Calibri"/>
              </a:rPr>
              <a:t>Revolutionized the
music industry</a:t>
            </a:r>
          </a:p>
        </p:txBody>
      </p:sp>
      <p:sp>
        <p:nvSpPr>
          <p:cNvPr id="17" name="Rectangle 16"/>
          <p:cNvSpPr/>
          <p:nvPr/>
        </p:nvSpPr>
        <p:spPr>
          <a:xfrm>
            <a:off x="6172200" y="1234440"/>
            <a:ext cx="2697480" cy="4114800"/>
          </a:xfrm>
          <a:prstGeom prst="rect">
            <a:avLst/>
          </a:prstGeom>
          <a:solidFill>
            <a:srgbClr val="7E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09360" y="1371600"/>
            <a:ext cx="2423160" cy="1005840"/>
          </a:xfrm>
          <a:prstGeom prst="rect">
            <a:avLst/>
          </a:prstGeom>
          <a:noFill/>
        </p:spPr>
        <p:txBody>
          <a:bodyPr wrap="square">
            <a:spAutoFit/>
          </a:bodyPr>
          <a:lstStyle/>
          <a:p>
            <a:pPr algn="ctr"/>
            <a:r>
              <a:rPr sz="2000" b="1" i="0">
                <a:solidFill>
                  <a:srgbClr val="0D0D0D"/>
                </a:solidFill>
                <a:latin typeface="Calibri"/>
              </a:rPr>
              <a:t>iPhone
2007</a:t>
            </a:r>
          </a:p>
        </p:txBody>
      </p:sp>
      <p:sp>
        <p:nvSpPr>
          <p:cNvPr id="19" name="Rectangle 18"/>
          <p:cNvSpPr/>
          <p:nvPr/>
        </p:nvSpPr>
        <p:spPr>
          <a:xfrm>
            <a:off x="6263640" y="2423160"/>
            <a:ext cx="2514600" cy="45720"/>
          </a:xfrm>
          <a:prstGeom prst="rect">
            <a:avLst/>
          </a:prstGeom>
          <a:solidFill>
            <a:srgbClr val="4A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309360" y="2560320"/>
            <a:ext cx="2423160" cy="1371600"/>
          </a:xfrm>
          <a:prstGeom prst="rect">
            <a:avLst/>
          </a:prstGeom>
          <a:noFill/>
        </p:spPr>
        <p:txBody>
          <a:bodyPr wrap="square">
            <a:spAutoFit/>
          </a:bodyPr>
          <a:lstStyle/>
          <a:p>
            <a:pPr algn="ctr"/>
            <a:r>
              <a:rPr sz="1600" b="1" i="0">
                <a:solidFill>
                  <a:srgbClr val="0D0D0D"/>
                </a:solidFill>
                <a:latin typeface="Calibri"/>
              </a:rPr>
              <a:t>Changed the entire
smartphone world</a:t>
            </a:r>
          </a:p>
        </p:txBody>
      </p:sp>
      <p:sp>
        <p:nvSpPr>
          <p:cNvPr id="21" name="Rectangle 20"/>
          <p:cNvSpPr/>
          <p:nvPr/>
        </p:nvSpPr>
        <p:spPr>
          <a:xfrm>
            <a:off x="9098280" y="1234440"/>
            <a:ext cx="2697480" cy="4114800"/>
          </a:xfrm>
          <a:prstGeom prst="rect">
            <a:avLst/>
          </a:prstGeom>
          <a:solidFill>
            <a:srgbClr val="7E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235440" y="1371600"/>
            <a:ext cx="2423160" cy="1005840"/>
          </a:xfrm>
          <a:prstGeom prst="rect">
            <a:avLst/>
          </a:prstGeom>
          <a:noFill/>
        </p:spPr>
        <p:txBody>
          <a:bodyPr wrap="square">
            <a:spAutoFit/>
          </a:bodyPr>
          <a:lstStyle/>
          <a:p>
            <a:pPr algn="ctr"/>
            <a:r>
              <a:rPr sz="2000" b="1" i="0">
                <a:solidFill>
                  <a:srgbClr val="0D0D0D"/>
                </a:solidFill>
                <a:latin typeface="Calibri"/>
              </a:rPr>
              <a:t>iPad
2010</a:t>
            </a:r>
          </a:p>
        </p:txBody>
      </p:sp>
      <p:sp>
        <p:nvSpPr>
          <p:cNvPr id="23" name="Rectangle 22"/>
          <p:cNvSpPr/>
          <p:nvPr/>
        </p:nvSpPr>
        <p:spPr>
          <a:xfrm>
            <a:off x="9189720" y="2423160"/>
            <a:ext cx="2514600" cy="45720"/>
          </a:xfrm>
          <a:prstGeom prst="rect">
            <a:avLst/>
          </a:prstGeom>
          <a:solidFill>
            <a:srgbClr val="4A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235440" y="2560320"/>
            <a:ext cx="2423160" cy="1371600"/>
          </a:xfrm>
          <a:prstGeom prst="rect">
            <a:avLst/>
          </a:prstGeom>
          <a:noFill/>
        </p:spPr>
        <p:txBody>
          <a:bodyPr wrap="square">
            <a:spAutoFit/>
          </a:bodyPr>
          <a:lstStyle/>
          <a:p>
            <a:pPr algn="ctr"/>
            <a:r>
              <a:rPr sz="1600" b="1" i="0">
                <a:solidFill>
                  <a:srgbClr val="0D0D0D"/>
                </a:solidFill>
                <a:latin typeface="Calibri"/>
              </a:rPr>
              <a:t>Created a brand
new tablet market</a:t>
            </a:r>
          </a:p>
        </p:txBody>
      </p:sp>
      <p:sp>
        <p:nvSpPr>
          <p:cNvPr id="25" name="TextBox 24"/>
          <p:cNvSpPr txBox="1"/>
          <p:nvPr/>
        </p:nvSpPr>
        <p:spPr>
          <a:xfrm>
            <a:off x="365760" y="5532120"/>
            <a:ext cx="11430000" cy="457200"/>
          </a:xfrm>
          <a:prstGeom prst="rect">
            <a:avLst/>
          </a:prstGeom>
          <a:noFill/>
        </p:spPr>
        <p:txBody>
          <a:bodyPr wrap="square">
            <a:spAutoFit/>
          </a:bodyPr>
          <a:lstStyle/>
          <a:p>
            <a:pPr algn="ctr"/>
            <a:r>
              <a:rPr sz="1500" b="1" i="1">
                <a:solidFill>
                  <a:srgbClr val="4AA0A0"/>
                </a:solidFill>
                <a:latin typeface="Calibri"/>
              </a:rPr>
              <a:t>These products changed the entire technology industry.</a:t>
            </a:r>
          </a:p>
        </p:txBody>
      </p:sp>
      <p:pic>
        <p:nvPicPr>
          <p:cNvPr id="7170" name="Picture 2" descr="Academics – Mawlana Bhashani Science and Technology ...">
            <a:extLst>
              <a:ext uri="{FF2B5EF4-FFF2-40B4-BE49-F238E27FC236}">
                <a16:creationId xmlns:a16="http://schemas.microsoft.com/office/drawing/2014/main" id="{1972D4BC-6AF5-886B-16E1-B81DBAD347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69909" y="5171276"/>
            <a:ext cx="1824909" cy="168672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0DC"/>
        </a:solidFill>
        <a:effectLst/>
      </p:bgPr>
    </p:bg>
    <p:spTree>
      <p:nvGrpSpPr>
        <p:cNvPr id="1" name=""/>
        <p:cNvGrpSpPr/>
        <p:nvPr/>
      </p:nvGrpSpPr>
      <p:grpSpPr>
        <a:xfrm>
          <a:off x="0" y="0"/>
          <a:ext cx="0" cy="0"/>
          <a:chOff x="0" y="0"/>
          <a:chExt cx="0" cy="0"/>
        </a:xfrm>
      </p:grpSpPr>
      <p:sp>
        <p:nvSpPr>
          <p:cNvPr id="2" name="Rectangle 1"/>
          <p:cNvSpPr/>
          <p:nvPr/>
        </p:nvSpPr>
        <p:spPr>
          <a:xfrm>
            <a:off x="5257800" y="109728"/>
            <a:ext cx="1005840" cy="777240"/>
          </a:xfrm>
          <a:prstGeom prst="rect">
            <a:avLst/>
          </a:prstGeom>
          <a:solidFill>
            <a:srgbClr val="E8E0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532120" y="246888"/>
            <a:ext cx="457200" cy="502920"/>
          </a:xfrm>
          <a:prstGeom prst="rect">
            <a:avLst/>
          </a:prstGeom>
          <a:solidFill>
            <a:srgbClr val="8B1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724144" y="-45720"/>
            <a:ext cx="73152" cy="182880"/>
          </a:xfrm>
          <a:prstGeom prst="rect">
            <a:avLst/>
          </a:prstGeom>
          <a:solidFill>
            <a:srgbClr val="C8A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754879" y="868680"/>
            <a:ext cx="2011680" cy="274320"/>
          </a:xfrm>
          <a:prstGeom prst="rect">
            <a:avLst/>
          </a:prstGeom>
          <a:noFill/>
        </p:spPr>
        <p:txBody>
          <a:bodyPr wrap="square">
            <a:spAutoFit/>
          </a:bodyPr>
          <a:lstStyle/>
          <a:p>
            <a:pPr algn="ctr"/>
            <a:r>
              <a:rPr sz="800" b="0" i="0">
                <a:solidFill>
                  <a:srgbClr val="555555"/>
                </a:solidFill>
                <a:latin typeface="Calibri"/>
              </a:rPr>
              <a:t>MBSTU</a:t>
            </a:r>
          </a:p>
        </p:txBody>
      </p:sp>
      <p:sp>
        <p:nvSpPr>
          <p:cNvPr id="6" name="Rectangle 5"/>
          <p:cNvSpPr/>
          <p:nvPr/>
        </p:nvSpPr>
        <p:spPr>
          <a:xfrm>
            <a:off x="0" y="0"/>
            <a:ext cx="12188952" cy="1051560"/>
          </a:xfrm>
          <a:prstGeom prst="rect">
            <a:avLst/>
          </a:prstGeom>
          <a:solidFill>
            <a:srgbClr val="7E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182880"/>
            <a:ext cx="11430000" cy="731520"/>
          </a:xfrm>
          <a:prstGeom prst="rect">
            <a:avLst/>
          </a:prstGeom>
          <a:noFill/>
        </p:spPr>
        <p:txBody>
          <a:bodyPr wrap="square">
            <a:spAutoFit/>
          </a:bodyPr>
          <a:lstStyle/>
          <a:p>
            <a:pPr algn="l"/>
            <a:r>
              <a:rPr sz="3000" b="1" i="0">
                <a:solidFill>
                  <a:srgbClr val="0D0D0D"/>
                </a:solidFill>
                <a:latin typeface="Calibri"/>
              </a:rPr>
              <a:t>Leadership Style</a:t>
            </a:r>
          </a:p>
        </p:txBody>
      </p:sp>
      <p:sp>
        <p:nvSpPr>
          <p:cNvPr id="8" name="Rectangle 7"/>
          <p:cNvSpPr/>
          <p:nvPr/>
        </p:nvSpPr>
        <p:spPr>
          <a:xfrm>
            <a:off x="0" y="1051560"/>
            <a:ext cx="12188952" cy="54864"/>
          </a:xfrm>
          <a:prstGeom prst="rect">
            <a:avLst/>
          </a:prstGeom>
          <a:solidFill>
            <a:srgbClr val="4A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65760" y="1234440"/>
            <a:ext cx="11430000" cy="4114800"/>
          </a:xfrm>
          <a:prstGeom prst="rect">
            <a:avLst/>
          </a:prstGeom>
          <a:solidFill>
            <a:srgbClr val="7E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1399032"/>
            <a:ext cx="11109960" cy="1923604"/>
          </a:xfrm>
          <a:prstGeom prst="rect">
            <a:avLst/>
          </a:prstGeom>
          <a:noFill/>
        </p:spPr>
        <p:txBody>
          <a:bodyPr wrap="square">
            <a:spAutoFit/>
          </a:bodyPr>
          <a:lstStyle/>
          <a:p>
            <a:r>
              <a:rPr sz="1350" b="0" dirty="0">
                <a:solidFill>
                  <a:srgbClr val="0D0D0D"/>
                </a:solidFill>
                <a:latin typeface="Calibri"/>
              </a:rPr>
              <a:t>•  Jobs had an almost obsessive commitment to simplicity and perfection in every product Apple created. He famously believed that design was not just how something looked, but how it worked. He insisted that even the internal components of products — parts users would never see — had to be designed beautifully. He once rejected an early circuit board design because the chips were not arranged neatly enough, even though they functioned correctly.</a:t>
            </a:r>
            <a:endParaRPr lang="en-US" sz="1350" b="0" dirty="0">
              <a:solidFill>
                <a:srgbClr val="0D0D0D"/>
              </a:solidFill>
              <a:latin typeface="Calibri"/>
            </a:endParaRPr>
          </a:p>
          <a:p>
            <a:endParaRPr sz="1350" b="0" dirty="0">
              <a:solidFill>
                <a:srgbClr val="0D0D0D"/>
              </a:solidFill>
              <a:latin typeface="Calibri"/>
            </a:endParaRPr>
          </a:p>
          <a:p>
            <a:r>
              <a:rPr sz="1350" b="0" dirty="0">
                <a:solidFill>
                  <a:srgbClr val="0D0D0D"/>
                </a:solidFill>
                <a:latin typeface="Calibri"/>
              </a:rPr>
              <a:t>•  Jobs believed deeply in the power of innovation and original thinking. He encouraged his team to “think differently” and never settle for the status quo. He studied the work of artists, poets, musicians, and designers alongside engineers and scientists. He hired people from diverse creative backgrounds and fostered a culture at Apple where bold ideas were celebrated, not punished.</a:t>
            </a:r>
            <a:endParaRPr lang="en-US" sz="1350" b="0" dirty="0">
              <a:solidFill>
                <a:srgbClr val="0D0D0D"/>
              </a:solidFill>
              <a:latin typeface="Calibri"/>
            </a:endParaRPr>
          </a:p>
          <a:p>
            <a:endParaRPr sz="1350" b="0" dirty="0">
              <a:solidFill>
                <a:srgbClr val="0D0D0D"/>
              </a:solidFill>
              <a:latin typeface="Calibri"/>
            </a:endParaRPr>
          </a:p>
          <a:p>
            <a:r>
              <a:rPr sz="1350" b="0" dirty="0">
                <a:solidFill>
                  <a:srgbClr val="0D0D0D"/>
                </a:solidFill>
                <a:latin typeface="Calibri"/>
              </a:rPr>
              <a:t>•  While Jobs was known for his visionary genius, he was also notoriously demanding. He pushed his teams hard — sometimes uncomfortably so — to achieve the highest possible standards. He was willing to scrap months of work and start over if the result was not good enough. Those who worked for him describe his high expectations as both frightening and inspiring. Many say the pressure he applied forced them to achieve things they did not believe were possible.</a:t>
            </a:r>
            <a:endParaRPr lang="en-US" sz="1350" b="0" dirty="0">
              <a:solidFill>
                <a:srgbClr val="0D0D0D"/>
              </a:solidFill>
              <a:latin typeface="Calibri"/>
            </a:endParaRPr>
          </a:p>
          <a:p>
            <a:endParaRPr sz="1350" b="0" dirty="0">
              <a:solidFill>
                <a:srgbClr val="0D0D0D"/>
              </a:solidFill>
              <a:latin typeface="Calibri"/>
            </a:endParaRPr>
          </a:p>
          <a:p>
            <a:r>
              <a:rPr sz="1350" b="0" dirty="0">
                <a:solidFill>
                  <a:srgbClr val="0D0D0D"/>
                </a:solidFill>
                <a:latin typeface="Calibri"/>
              </a:rPr>
              <a:t>•  Above all else, Steve Jobs prioritized the user experience. He wanted Apple products to feel intuitive, natural, and even magical to use. He was famous for approaching product design from the customer’s perspective: starting with the experience they should have, and then working backwards to figure out what technology was needed to deliver it. This philosophy produced products that millions of people loved using — not just machines that technically worked.</a:t>
            </a:r>
          </a:p>
        </p:txBody>
      </p:sp>
      <p:pic>
        <p:nvPicPr>
          <p:cNvPr id="8194" name="Picture 2" descr="Academics – Mawlana Bhashani Science and Technology ...">
            <a:extLst>
              <a:ext uri="{FF2B5EF4-FFF2-40B4-BE49-F238E27FC236}">
                <a16:creationId xmlns:a16="http://schemas.microsoft.com/office/drawing/2014/main" id="{45DA9758-EBC9-FD6F-61F0-33CA7F2BFF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92430" y="5191432"/>
            <a:ext cx="2000250" cy="161037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0DC"/>
        </a:solidFill>
        <a:effectLst/>
      </p:bgPr>
    </p:bg>
    <p:spTree>
      <p:nvGrpSpPr>
        <p:cNvPr id="1" name=""/>
        <p:cNvGrpSpPr/>
        <p:nvPr/>
      </p:nvGrpSpPr>
      <p:grpSpPr>
        <a:xfrm>
          <a:off x="0" y="0"/>
          <a:ext cx="0" cy="0"/>
          <a:chOff x="0" y="0"/>
          <a:chExt cx="0" cy="0"/>
        </a:xfrm>
      </p:grpSpPr>
      <p:sp>
        <p:nvSpPr>
          <p:cNvPr id="2" name="Rectangle 1"/>
          <p:cNvSpPr/>
          <p:nvPr/>
        </p:nvSpPr>
        <p:spPr>
          <a:xfrm>
            <a:off x="5257800" y="109728"/>
            <a:ext cx="1005840" cy="777240"/>
          </a:xfrm>
          <a:prstGeom prst="rect">
            <a:avLst/>
          </a:prstGeom>
          <a:solidFill>
            <a:srgbClr val="E8E0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532120" y="246888"/>
            <a:ext cx="457200" cy="502920"/>
          </a:xfrm>
          <a:prstGeom prst="rect">
            <a:avLst/>
          </a:prstGeom>
          <a:solidFill>
            <a:srgbClr val="8B1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724144" y="-45720"/>
            <a:ext cx="73152" cy="182880"/>
          </a:xfrm>
          <a:prstGeom prst="rect">
            <a:avLst/>
          </a:prstGeom>
          <a:solidFill>
            <a:srgbClr val="C8A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754879" y="868680"/>
            <a:ext cx="2011680" cy="274320"/>
          </a:xfrm>
          <a:prstGeom prst="rect">
            <a:avLst/>
          </a:prstGeom>
          <a:noFill/>
        </p:spPr>
        <p:txBody>
          <a:bodyPr wrap="square">
            <a:spAutoFit/>
          </a:bodyPr>
          <a:lstStyle/>
          <a:p>
            <a:pPr algn="ctr"/>
            <a:r>
              <a:rPr sz="800" b="0" i="0">
                <a:solidFill>
                  <a:srgbClr val="555555"/>
                </a:solidFill>
                <a:latin typeface="Calibri"/>
              </a:rPr>
              <a:t>MBSTU</a:t>
            </a:r>
          </a:p>
        </p:txBody>
      </p:sp>
      <p:sp>
        <p:nvSpPr>
          <p:cNvPr id="6" name="Rectangle 5"/>
          <p:cNvSpPr/>
          <p:nvPr/>
        </p:nvSpPr>
        <p:spPr>
          <a:xfrm>
            <a:off x="0" y="0"/>
            <a:ext cx="12188952" cy="1051560"/>
          </a:xfrm>
          <a:prstGeom prst="rect">
            <a:avLst/>
          </a:prstGeom>
          <a:solidFill>
            <a:srgbClr val="7E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182880"/>
            <a:ext cx="11430000" cy="731520"/>
          </a:xfrm>
          <a:prstGeom prst="rect">
            <a:avLst/>
          </a:prstGeom>
          <a:noFill/>
        </p:spPr>
        <p:txBody>
          <a:bodyPr wrap="square">
            <a:spAutoFit/>
          </a:bodyPr>
          <a:lstStyle/>
          <a:p>
            <a:pPr algn="l"/>
            <a:r>
              <a:rPr sz="3000" b="1" i="0">
                <a:solidFill>
                  <a:srgbClr val="0D0D0D"/>
                </a:solidFill>
                <a:latin typeface="Calibri"/>
              </a:rPr>
              <a:t>Death &amp; Legacy</a:t>
            </a:r>
          </a:p>
        </p:txBody>
      </p:sp>
      <p:sp>
        <p:nvSpPr>
          <p:cNvPr id="8" name="Rectangle 7"/>
          <p:cNvSpPr/>
          <p:nvPr/>
        </p:nvSpPr>
        <p:spPr>
          <a:xfrm>
            <a:off x="0" y="1051560"/>
            <a:ext cx="12188952" cy="54864"/>
          </a:xfrm>
          <a:prstGeom prst="rect">
            <a:avLst/>
          </a:prstGeom>
          <a:solidFill>
            <a:srgbClr val="4A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65760" y="1234440"/>
            <a:ext cx="11430000" cy="3474720"/>
          </a:xfrm>
          <a:prstGeom prst="rect">
            <a:avLst/>
          </a:prstGeom>
          <a:solidFill>
            <a:srgbClr val="7E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1399032"/>
            <a:ext cx="11109960" cy="1923604"/>
          </a:xfrm>
          <a:prstGeom prst="rect">
            <a:avLst/>
          </a:prstGeom>
          <a:noFill/>
        </p:spPr>
        <p:txBody>
          <a:bodyPr wrap="square">
            <a:spAutoFit/>
          </a:bodyPr>
          <a:lstStyle/>
          <a:p>
            <a:r>
              <a:rPr sz="1350" b="0" dirty="0">
                <a:solidFill>
                  <a:srgbClr val="0D0D0D"/>
                </a:solidFill>
                <a:latin typeface="Calibri"/>
              </a:rPr>
              <a:t>•  Steve Jobs passed away on October 5, 2011, at the age of 56, at his home in Palo Alto, California. The cause of death was respiratory arrest related to a rare form of pancreatic cancer called an islet cell neuroendocrine tumor, which he had been privately battling since 2003. His death was mourned worldwide, with tributes pouring in from world leaders, artists, scientists, and millions of ordinary people whose lives he had touched.</a:t>
            </a:r>
            <a:endParaRPr lang="en-US" sz="1350" b="0" dirty="0">
              <a:solidFill>
                <a:srgbClr val="0D0D0D"/>
              </a:solidFill>
              <a:latin typeface="Calibri"/>
            </a:endParaRPr>
          </a:p>
          <a:p>
            <a:endParaRPr sz="1350" b="0" dirty="0">
              <a:solidFill>
                <a:srgbClr val="0D0D0D"/>
              </a:solidFill>
              <a:latin typeface="Calibri"/>
            </a:endParaRPr>
          </a:p>
          <a:p>
            <a:r>
              <a:rPr sz="1350" b="0" dirty="0">
                <a:solidFill>
                  <a:srgbClr val="0D0D0D"/>
                </a:solidFill>
                <a:latin typeface="Calibri"/>
              </a:rPr>
              <a:t>•  Jobs’ legacy lives on through every Apple product created in his spirit: the relentless pursuit of simplicity, the marriage of technology and art, and the belief that great design can change how people live and work. Apple became the first company in history to reach a $1 trillion market capitalization in 2018, and today remains one of the most valuable and influential companies in the world — a direct reflection of the culture and standards Jobs built.</a:t>
            </a:r>
            <a:endParaRPr lang="en-US" sz="1350" b="0" dirty="0">
              <a:solidFill>
                <a:srgbClr val="0D0D0D"/>
              </a:solidFill>
              <a:latin typeface="Calibri"/>
            </a:endParaRPr>
          </a:p>
          <a:p>
            <a:endParaRPr sz="1350" b="0" dirty="0">
              <a:solidFill>
                <a:srgbClr val="0D0D0D"/>
              </a:solidFill>
              <a:latin typeface="Calibri"/>
            </a:endParaRPr>
          </a:p>
          <a:p>
            <a:r>
              <a:rPr sz="1350" b="0" dirty="0">
                <a:solidFill>
                  <a:srgbClr val="0D0D0D"/>
                </a:solidFill>
                <a:latin typeface="Calibri"/>
              </a:rPr>
              <a:t>•  Steve Jobs is remembered worldwide as one of the greatest technology visionaries of the 20th and 21st centuries. He transformed not one but six major industries: personal computers, animated movies, music, mobile phones, tablet computing, and digital retail. Time magazine named him one of the 100 most influential people of the 20th century. His biography by Walter Isaacson became one of the best-selling biographies ever written.</a:t>
            </a:r>
            <a:endParaRPr lang="en-US" sz="1350" b="0" dirty="0">
              <a:solidFill>
                <a:srgbClr val="0D0D0D"/>
              </a:solidFill>
              <a:latin typeface="Calibri"/>
            </a:endParaRPr>
          </a:p>
          <a:p>
            <a:endParaRPr sz="1350" b="0" dirty="0">
              <a:solidFill>
                <a:srgbClr val="0D0D0D"/>
              </a:solidFill>
              <a:latin typeface="Calibri"/>
            </a:endParaRPr>
          </a:p>
          <a:p>
            <a:r>
              <a:rPr sz="1350" b="0" dirty="0">
                <a:solidFill>
                  <a:srgbClr val="0D0D0D"/>
                </a:solidFill>
                <a:latin typeface="Calibri"/>
              </a:rPr>
              <a:t>•  Jobs’ most famous and enduring quote comes from his 2005 Stanford University commencement address, where he told graduates: “Stay Hungry. Stay Foolish.” He meant that they should never stop learning, never be satisfied with mediocrity, and always have the courage to follow their heart and intuition. These words continue to inspire entrepreneurs, creators, and innovators around the world to this day.</a:t>
            </a:r>
          </a:p>
        </p:txBody>
      </p:sp>
      <p:sp>
        <p:nvSpPr>
          <p:cNvPr id="11" name="Rectangle 10"/>
          <p:cNvSpPr/>
          <p:nvPr/>
        </p:nvSpPr>
        <p:spPr>
          <a:xfrm>
            <a:off x="365760" y="5029200"/>
            <a:ext cx="11430000" cy="1463040"/>
          </a:xfrm>
          <a:prstGeom prst="rect">
            <a:avLst/>
          </a:prstGeom>
          <a:solidFill>
            <a:srgbClr val="4A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48640" y="5230368"/>
            <a:ext cx="11064240" cy="731520"/>
          </a:xfrm>
          <a:prstGeom prst="rect">
            <a:avLst/>
          </a:prstGeom>
          <a:noFill/>
        </p:spPr>
        <p:txBody>
          <a:bodyPr wrap="square">
            <a:spAutoFit/>
          </a:bodyPr>
          <a:lstStyle/>
          <a:p>
            <a:pPr algn="ctr"/>
            <a:r>
              <a:rPr sz="2200" b="1" i="1">
                <a:solidFill>
                  <a:srgbClr val="F5F0DC"/>
                </a:solidFill>
                <a:latin typeface="Calibri"/>
              </a:rPr>
              <a:t>"Stay Hungry. Stay Foolish."  — Steve Jobs</a:t>
            </a:r>
          </a:p>
        </p:txBody>
      </p:sp>
      <p:pic>
        <p:nvPicPr>
          <p:cNvPr id="9218" name="Picture 2" descr="Academics – Mawlana Bhashani Science and Technology ...">
            <a:extLst>
              <a:ext uri="{FF2B5EF4-FFF2-40B4-BE49-F238E27FC236}">
                <a16:creationId xmlns:a16="http://schemas.microsoft.com/office/drawing/2014/main" id="{46C79839-6F18-4478-FD32-A0334975FE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35927" y="4813198"/>
            <a:ext cx="2000250" cy="19907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136</TotalTime>
  <Words>2434</Words>
  <Application>Microsoft Office PowerPoint</Application>
  <PresentationFormat>Custom</PresentationFormat>
  <Paragraphs>98</Paragraphs>
  <Slides>10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Hp</dc:creator>
  <cp:keywords/>
  <dc:description>generated using python-pptx</dc:description>
  <cp:lastModifiedBy>Hp</cp:lastModifiedBy>
  <cp:revision>4</cp:revision>
  <dcterms:created xsi:type="dcterms:W3CDTF">2013-01-27T09:14:16Z</dcterms:created>
  <dcterms:modified xsi:type="dcterms:W3CDTF">2026-05-02T15:23:29Z</dcterms:modified>
  <cp:category/>
</cp:coreProperties>
</file>